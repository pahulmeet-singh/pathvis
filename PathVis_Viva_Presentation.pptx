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2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Pahulmeet Singh, registration number 12406443. Today I'll be presenting PathVis, an interactive pathfinding and maze-generation visualizer, built as my project for CSES001 under the guidance of Ms. Prerita Agarwal.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 I'll go through the problem and objectives, the scope, how the system is architected, the tech stack, the algorithms, maze generation, testing and results, and finish with limitations and future work. Say this steadily; you don't need to elaborate on each point yet, just name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simple: pathfinding algorithms are normally taught on paper. You can memorise that A star explores fewer nodes than Dijkstra without ever seeing it happen. PathVis makes that a live, watchable experiment instead of a fact you take on faith.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implement the four algorithms correctly, guarantee mazes are always solvable by construction, make the animation a genuine reflection of the algorithm's own logic rather than a fake replay, support live side-by-side comparison, and back all of it with automated verification.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was deliberately bounded: in scope is everything about maze generation, editing, four animated algorithms, comparison mode, and live stats. Out of scope, on purpose: no accounts or backend, no 3D mazes, no native mobile app — it's a pure client-side single-page tool.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App.tsx owns top-level state and renders four presentation components. Two custom hooks own all the mutable editing and animation state. Underneath, three completely framework-agnostic lib modules — grid, algorithms, and maze generation — have zero React imports, so they're independently testable and I can show the pathfinding logic without any UI code in the 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19 with TypeScript on Vite for the framework, Tailwind for styling, HTML5 Canvas for rendering — since a 40 by 40 grid can mean well over a thousand cells, Canvas performs better than that many DOM nodes. Vitest for testing since it shares Vite's config, and Vercel for zero-config deployment.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and Dijkstra both guarantee shortest paths — BFS on unweighted grids by processing cells in order of distance, Dijkstra more generally via a priority queue. DFS makes no such guarantee — it's included deliberately as a contrast. A star adds an admissible heuristic on top of Dijkstra to explore fewer nodes while staying optimal.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maze generators carve passages between rooms on a room-lattice grid, extending an already-connected spanning tree one carve at a time — that's what makes full connectivity a structural guarantee rather than something checked afterward. They differ only in how the next room to carve is picked: DFS always extends the latest room; Prim's picks uniformly from the whole frontier.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design decision I'd most want to defend: every algorithm is written as a generator function that yields one step at a time. That one implementation is drained instantly for the fastest speed, stepped via requestAnimationFrame for the animated view, or run as two generators stepped together for comparison mode — so the animation can never drift from what the algorithm is actually doing.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automated tests across 5 files, all passing. I split testing deliberately: anything that's pure logic — maze connectivity, whether BFS and Dijkstra agree, whether A star ever explores more than Dijkstra — is automated. Anything that's genuinely about the browser, like drag interactions, is a documented manual checklist instead, rather than pulling in a DOM-simulation library just to approximate what I can directly observe.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an identical maze, all four algorithms returned the exact same path length — that's expected, since a maze built by these generators is a spanning tree with exactly one route between any two points. What differs is how much each algorithm explored to find it: A star visited the fewest nodes at 177, BFS and Dijkstra tied at 203 as expected on a uniformly-weighted grid, and DFS visited the most at 317, consistent with it having no distance-guided exploration.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maze can't show this divergence, since it only has one route. So I built a separate small open-grid test with a weighted mud cell placed deliberately on the shortest path. BFS, which has no concept of edge weight, drives straight through the mud for a cost of 8. Dijkstra and A star both take a slightly longer route around it for a lower total cost of 6 — this is exactly the behaviour the mud terrain feature was designed to make visible.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stepping back: BFS and Dijkstra provably agree on unweighted grids, they genuinely diverge once weight enters the picture, A star is never worse than Dijkstra in nodes explored while staying just as optimal, and none of this rests on a single cherry-picked run — it's backed by the automated suite across randomized inputs.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limitations worth naming directly. First, the 40 by 40 grid performance target was designed for — Canvas rendering, O(1) overlay lookups — but I haven't directly profiled frame rate to confirm it holds at that size. Second, no diagonal movement. Third, no persistence — that one was a deliberate scope decision, not an oversight.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extensions I identified but deliberately deferred since they weren't required for the core deliverable: saving and loading mazes, exporting a run as a GIF, adding Greedy Best-First Search specifically to contrast against A star's behaviour, and 8-directional movement, which would need switching the heuristic to Chebyshev or Euclidean to stay admissible.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PathVis set out to make pathfinding behaviour something you observe rather than memorise, and I'd argue it does that — every algorithm, every animation, and every comparison is backed by an automated test, not just a live demo. That's the project in one 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3973068" y="502920"/>
            <a:ext cx="466710" cy="466710"/>
          </a:xfrm>
          <a:prstGeom prst="roundRect">
            <a:avLst>
              <a:gd name="adj" fmla="val 3918"/>
            </a:avLst>
          </a:prstGeom>
          <a:solidFill>
            <a:srgbClr val="2A3572"/>
          </a:solidFill>
          <a:ln/>
        </p:spPr>
      </p:sp>
      <p:sp>
        <p:nvSpPr>
          <p:cNvPr id="3" name="Shape 1"/>
          <p:cNvSpPr/>
          <p:nvPr/>
        </p:nvSpPr>
        <p:spPr>
          <a:xfrm>
            <a:off x="4503420" y="502920"/>
            <a:ext cx="466710" cy="466710"/>
          </a:xfrm>
          <a:prstGeom prst="roundRect">
            <a:avLst>
              <a:gd name="adj" fmla="val 3918"/>
            </a:avLst>
          </a:prstGeom>
          <a:solidFill>
            <a:srgbClr val="2A3572"/>
          </a:solidFill>
          <a:ln/>
        </p:spPr>
      </p:sp>
      <p:sp>
        <p:nvSpPr>
          <p:cNvPr id="4" name="Shape 2"/>
          <p:cNvSpPr/>
          <p:nvPr/>
        </p:nvSpPr>
        <p:spPr>
          <a:xfrm>
            <a:off x="5033772" y="502920"/>
            <a:ext cx="466710" cy="466710"/>
          </a:xfrm>
          <a:prstGeom prst="roundRect">
            <a:avLst>
              <a:gd name="adj" fmla="val 3918"/>
            </a:avLst>
          </a:prstGeom>
          <a:solidFill>
            <a:srgbClr val="141B4D"/>
          </a:solidFill>
          <a:ln/>
        </p:spPr>
      </p:sp>
      <p:sp>
        <p:nvSpPr>
          <p:cNvPr id="5" name="Shape 3"/>
          <p:cNvSpPr/>
          <p:nvPr/>
        </p:nvSpPr>
        <p:spPr>
          <a:xfrm>
            <a:off x="5564124" y="502920"/>
            <a:ext cx="466710" cy="466710"/>
          </a:xfrm>
          <a:prstGeom prst="roundRect">
            <a:avLst>
              <a:gd name="adj" fmla="val 3918"/>
            </a:avLst>
          </a:prstGeom>
          <a:solidFill>
            <a:srgbClr val="2A3572"/>
          </a:solidFill>
          <a:ln/>
        </p:spPr>
      </p:sp>
      <p:sp>
        <p:nvSpPr>
          <p:cNvPr id="6" name="Shape 4"/>
          <p:cNvSpPr/>
          <p:nvPr/>
        </p:nvSpPr>
        <p:spPr>
          <a:xfrm>
            <a:off x="6094476" y="502920"/>
            <a:ext cx="466710" cy="466710"/>
          </a:xfrm>
          <a:prstGeom prst="roundRect">
            <a:avLst>
              <a:gd name="adj" fmla="val 3918"/>
            </a:avLst>
          </a:prstGeom>
          <a:solidFill>
            <a:srgbClr val="2A3572"/>
          </a:solidFill>
          <a:ln/>
        </p:spPr>
      </p:sp>
      <p:sp>
        <p:nvSpPr>
          <p:cNvPr id="7" name="Shape 5"/>
          <p:cNvSpPr/>
          <p:nvPr/>
        </p:nvSpPr>
        <p:spPr>
          <a:xfrm>
            <a:off x="6624828" y="502920"/>
            <a:ext cx="466710" cy="466710"/>
          </a:xfrm>
          <a:prstGeom prst="roundRect">
            <a:avLst>
              <a:gd name="adj" fmla="val 3918"/>
            </a:avLst>
          </a:prstGeom>
          <a:solidFill>
            <a:srgbClr val="141B4D"/>
          </a:solidFill>
          <a:ln/>
        </p:spPr>
      </p:sp>
      <p:sp>
        <p:nvSpPr>
          <p:cNvPr id="8" name="Shape 6"/>
          <p:cNvSpPr/>
          <p:nvPr/>
        </p:nvSpPr>
        <p:spPr>
          <a:xfrm>
            <a:off x="7155180" y="502920"/>
            <a:ext cx="466710" cy="466710"/>
          </a:xfrm>
          <a:prstGeom prst="roundRect">
            <a:avLst>
              <a:gd name="adj" fmla="val 3918"/>
            </a:avLst>
          </a:prstGeom>
          <a:solidFill>
            <a:srgbClr val="2A3572"/>
          </a:solidFill>
          <a:ln/>
        </p:spPr>
      </p:sp>
      <p:sp>
        <p:nvSpPr>
          <p:cNvPr id="9" name="Shape 7"/>
          <p:cNvSpPr/>
          <p:nvPr/>
        </p:nvSpPr>
        <p:spPr>
          <a:xfrm>
            <a:off x="7685532" y="502920"/>
            <a:ext cx="466710" cy="466710"/>
          </a:xfrm>
          <a:prstGeom prst="roundRect">
            <a:avLst>
              <a:gd name="adj" fmla="val 3918"/>
            </a:avLst>
          </a:prstGeom>
          <a:solidFill>
            <a:srgbClr val="2A3572"/>
          </a:solidFill>
          <a:ln/>
        </p:spPr>
      </p:sp>
      <p:sp>
        <p:nvSpPr>
          <p:cNvPr id="10" name="Shape 8"/>
          <p:cNvSpPr/>
          <p:nvPr/>
        </p:nvSpPr>
        <p:spPr>
          <a:xfrm>
            <a:off x="3973068" y="1033272"/>
            <a:ext cx="466710" cy="466710"/>
          </a:xfrm>
          <a:prstGeom prst="roundRect">
            <a:avLst>
              <a:gd name="adj" fmla="val 3918"/>
            </a:avLst>
          </a:prstGeom>
          <a:solidFill>
            <a:srgbClr val="2A3572"/>
          </a:solidFill>
          <a:ln/>
        </p:spPr>
      </p:sp>
      <p:sp>
        <p:nvSpPr>
          <p:cNvPr id="11" name="Shape 9"/>
          <p:cNvSpPr/>
          <p:nvPr/>
        </p:nvSpPr>
        <p:spPr>
          <a:xfrm>
            <a:off x="4503420" y="1033272"/>
            <a:ext cx="466710" cy="466710"/>
          </a:xfrm>
          <a:prstGeom prst="roundRect">
            <a:avLst>
              <a:gd name="adj" fmla="val 3918"/>
            </a:avLst>
          </a:prstGeom>
          <a:solidFill>
            <a:srgbClr val="2A3572"/>
          </a:solidFill>
          <a:ln/>
        </p:spPr>
      </p:sp>
      <p:sp>
        <p:nvSpPr>
          <p:cNvPr id="12" name="Shape 10"/>
          <p:cNvSpPr/>
          <p:nvPr/>
        </p:nvSpPr>
        <p:spPr>
          <a:xfrm>
            <a:off x="5033772" y="1033272"/>
            <a:ext cx="466710" cy="466710"/>
          </a:xfrm>
          <a:prstGeom prst="roundRect">
            <a:avLst>
              <a:gd name="adj" fmla="val 3918"/>
            </a:avLst>
          </a:prstGeom>
          <a:solidFill>
            <a:srgbClr val="141B4D"/>
          </a:solidFill>
          <a:ln/>
        </p:spPr>
      </p:sp>
      <p:sp>
        <p:nvSpPr>
          <p:cNvPr id="13" name="Shape 11"/>
          <p:cNvSpPr/>
          <p:nvPr/>
        </p:nvSpPr>
        <p:spPr>
          <a:xfrm>
            <a:off x="5564124" y="1033272"/>
            <a:ext cx="466710" cy="466710"/>
          </a:xfrm>
          <a:prstGeom prst="roundRect">
            <a:avLst>
              <a:gd name="adj" fmla="val 3918"/>
            </a:avLst>
          </a:prstGeom>
          <a:solidFill>
            <a:srgbClr val="2A3572"/>
          </a:solidFill>
          <a:ln/>
        </p:spPr>
      </p:sp>
      <p:sp>
        <p:nvSpPr>
          <p:cNvPr id="14" name="Shape 12"/>
          <p:cNvSpPr/>
          <p:nvPr/>
        </p:nvSpPr>
        <p:spPr>
          <a:xfrm>
            <a:off x="6094476" y="1033272"/>
            <a:ext cx="466710" cy="466710"/>
          </a:xfrm>
          <a:prstGeom prst="roundRect">
            <a:avLst>
              <a:gd name="adj" fmla="val 3918"/>
            </a:avLst>
          </a:prstGeom>
          <a:solidFill>
            <a:srgbClr val="2A3572"/>
          </a:solidFill>
          <a:ln/>
        </p:spPr>
      </p:sp>
      <p:sp>
        <p:nvSpPr>
          <p:cNvPr id="15" name="Shape 13"/>
          <p:cNvSpPr/>
          <p:nvPr/>
        </p:nvSpPr>
        <p:spPr>
          <a:xfrm>
            <a:off x="6624828" y="1033272"/>
            <a:ext cx="466710" cy="466710"/>
          </a:xfrm>
          <a:prstGeom prst="roundRect">
            <a:avLst>
              <a:gd name="adj" fmla="val 3918"/>
            </a:avLst>
          </a:prstGeom>
          <a:solidFill>
            <a:srgbClr val="141B4D"/>
          </a:solidFill>
          <a:ln/>
        </p:spPr>
      </p:sp>
      <p:sp>
        <p:nvSpPr>
          <p:cNvPr id="16" name="Shape 14"/>
          <p:cNvSpPr/>
          <p:nvPr/>
        </p:nvSpPr>
        <p:spPr>
          <a:xfrm>
            <a:off x="7155180" y="1033272"/>
            <a:ext cx="466710" cy="466710"/>
          </a:xfrm>
          <a:prstGeom prst="roundRect">
            <a:avLst>
              <a:gd name="adj" fmla="val 3918"/>
            </a:avLst>
          </a:prstGeom>
          <a:solidFill>
            <a:srgbClr val="2A3572"/>
          </a:solidFill>
          <a:ln/>
        </p:spPr>
      </p:sp>
      <p:sp>
        <p:nvSpPr>
          <p:cNvPr id="17" name="Shape 15"/>
          <p:cNvSpPr/>
          <p:nvPr/>
        </p:nvSpPr>
        <p:spPr>
          <a:xfrm>
            <a:off x="7685532" y="1033272"/>
            <a:ext cx="466710" cy="466710"/>
          </a:xfrm>
          <a:prstGeom prst="roundRect">
            <a:avLst>
              <a:gd name="adj" fmla="val 3918"/>
            </a:avLst>
          </a:prstGeom>
          <a:solidFill>
            <a:srgbClr val="2A3572"/>
          </a:solidFill>
          <a:ln/>
        </p:spPr>
      </p:sp>
      <p:sp>
        <p:nvSpPr>
          <p:cNvPr id="18" name="Shape 16"/>
          <p:cNvSpPr/>
          <p:nvPr/>
        </p:nvSpPr>
        <p:spPr>
          <a:xfrm>
            <a:off x="3973068" y="1563624"/>
            <a:ext cx="466710" cy="466710"/>
          </a:xfrm>
          <a:prstGeom prst="roundRect">
            <a:avLst>
              <a:gd name="adj" fmla="val 3918"/>
            </a:avLst>
          </a:prstGeom>
          <a:solidFill>
            <a:srgbClr val="2EC4B6"/>
          </a:solidFill>
          <a:ln/>
        </p:spPr>
      </p:sp>
      <p:sp>
        <p:nvSpPr>
          <p:cNvPr id="19" name="Shape 17"/>
          <p:cNvSpPr/>
          <p:nvPr/>
        </p:nvSpPr>
        <p:spPr>
          <a:xfrm>
            <a:off x="4503420" y="1563624"/>
            <a:ext cx="466710" cy="466710"/>
          </a:xfrm>
          <a:prstGeom prst="roundRect">
            <a:avLst>
              <a:gd name="adj" fmla="val 3918"/>
            </a:avLst>
          </a:prstGeom>
          <a:solidFill>
            <a:srgbClr val="2EC4B6"/>
          </a:solidFill>
          <a:ln/>
        </p:spPr>
      </p:sp>
      <p:sp>
        <p:nvSpPr>
          <p:cNvPr id="20" name="Shape 18"/>
          <p:cNvSpPr/>
          <p:nvPr/>
        </p:nvSpPr>
        <p:spPr>
          <a:xfrm>
            <a:off x="5033772" y="1563624"/>
            <a:ext cx="466710" cy="466710"/>
          </a:xfrm>
          <a:prstGeom prst="roundRect">
            <a:avLst>
              <a:gd name="adj" fmla="val 3918"/>
            </a:avLst>
          </a:prstGeom>
          <a:solidFill>
            <a:srgbClr val="2EC4B6"/>
          </a:solidFill>
          <a:ln/>
        </p:spPr>
      </p:sp>
      <p:sp>
        <p:nvSpPr>
          <p:cNvPr id="21" name="Shape 19"/>
          <p:cNvSpPr/>
          <p:nvPr/>
        </p:nvSpPr>
        <p:spPr>
          <a:xfrm>
            <a:off x="5564124" y="1563624"/>
            <a:ext cx="466710" cy="466710"/>
          </a:xfrm>
          <a:prstGeom prst="roundRect">
            <a:avLst>
              <a:gd name="adj" fmla="val 3918"/>
            </a:avLst>
          </a:prstGeom>
          <a:solidFill>
            <a:srgbClr val="2EC4B6"/>
          </a:solidFill>
          <a:ln/>
        </p:spPr>
      </p:sp>
      <p:sp>
        <p:nvSpPr>
          <p:cNvPr id="22" name="Shape 20"/>
          <p:cNvSpPr/>
          <p:nvPr/>
        </p:nvSpPr>
        <p:spPr>
          <a:xfrm>
            <a:off x="6094476" y="1563624"/>
            <a:ext cx="466710" cy="466710"/>
          </a:xfrm>
          <a:prstGeom prst="roundRect">
            <a:avLst>
              <a:gd name="adj" fmla="val 3918"/>
            </a:avLst>
          </a:prstGeom>
          <a:solidFill>
            <a:srgbClr val="2EC4B6"/>
          </a:solidFill>
          <a:ln/>
        </p:spPr>
      </p:sp>
      <p:sp>
        <p:nvSpPr>
          <p:cNvPr id="23" name="Shape 21"/>
          <p:cNvSpPr/>
          <p:nvPr/>
        </p:nvSpPr>
        <p:spPr>
          <a:xfrm>
            <a:off x="6624828" y="1563624"/>
            <a:ext cx="466710" cy="466710"/>
          </a:xfrm>
          <a:prstGeom prst="roundRect">
            <a:avLst>
              <a:gd name="adj" fmla="val 3918"/>
            </a:avLst>
          </a:prstGeom>
          <a:solidFill>
            <a:srgbClr val="2EC4B6"/>
          </a:solidFill>
          <a:ln/>
        </p:spPr>
      </p:sp>
      <p:sp>
        <p:nvSpPr>
          <p:cNvPr id="24" name="Shape 22"/>
          <p:cNvSpPr/>
          <p:nvPr/>
        </p:nvSpPr>
        <p:spPr>
          <a:xfrm>
            <a:off x="7155180" y="1563624"/>
            <a:ext cx="466710" cy="466710"/>
          </a:xfrm>
          <a:prstGeom prst="roundRect">
            <a:avLst>
              <a:gd name="adj" fmla="val 3918"/>
            </a:avLst>
          </a:prstGeom>
          <a:solidFill>
            <a:srgbClr val="2EC4B6"/>
          </a:solidFill>
          <a:ln/>
        </p:spPr>
      </p:sp>
      <p:sp>
        <p:nvSpPr>
          <p:cNvPr id="25" name="Shape 23"/>
          <p:cNvSpPr/>
          <p:nvPr/>
        </p:nvSpPr>
        <p:spPr>
          <a:xfrm>
            <a:off x="7685532" y="1563624"/>
            <a:ext cx="466710" cy="466710"/>
          </a:xfrm>
          <a:prstGeom prst="roundRect">
            <a:avLst>
              <a:gd name="adj" fmla="val 3918"/>
            </a:avLst>
          </a:prstGeom>
          <a:solidFill>
            <a:srgbClr val="2EC4B6"/>
          </a:solidFill>
          <a:ln/>
        </p:spPr>
      </p:sp>
      <p:sp>
        <p:nvSpPr>
          <p:cNvPr id="26" name="Shape 24"/>
          <p:cNvSpPr/>
          <p:nvPr/>
        </p:nvSpPr>
        <p:spPr>
          <a:xfrm>
            <a:off x="3973068" y="2093976"/>
            <a:ext cx="466710" cy="466710"/>
          </a:xfrm>
          <a:prstGeom prst="roundRect">
            <a:avLst>
              <a:gd name="adj" fmla="val 3918"/>
            </a:avLst>
          </a:prstGeom>
          <a:solidFill>
            <a:srgbClr val="2A3572"/>
          </a:solidFill>
          <a:ln/>
        </p:spPr>
      </p:sp>
      <p:sp>
        <p:nvSpPr>
          <p:cNvPr id="27" name="Shape 25"/>
          <p:cNvSpPr/>
          <p:nvPr/>
        </p:nvSpPr>
        <p:spPr>
          <a:xfrm>
            <a:off x="4503420" y="2093976"/>
            <a:ext cx="466710" cy="466710"/>
          </a:xfrm>
          <a:prstGeom prst="roundRect">
            <a:avLst>
              <a:gd name="adj" fmla="val 3918"/>
            </a:avLst>
          </a:prstGeom>
          <a:solidFill>
            <a:srgbClr val="2A3572"/>
          </a:solidFill>
          <a:ln/>
        </p:spPr>
      </p:sp>
      <p:sp>
        <p:nvSpPr>
          <p:cNvPr id="28" name="Shape 26"/>
          <p:cNvSpPr/>
          <p:nvPr/>
        </p:nvSpPr>
        <p:spPr>
          <a:xfrm>
            <a:off x="5033772" y="2093976"/>
            <a:ext cx="466710" cy="466710"/>
          </a:xfrm>
          <a:prstGeom prst="roundRect">
            <a:avLst>
              <a:gd name="adj" fmla="val 3918"/>
            </a:avLst>
          </a:prstGeom>
          <a:solidFill>
            <a:srgbClr val="141B4D"/>
          </a:solidFill>
          <a:ln/>
        </p:spPr>
      </p:sp>
      <p:sp>
        <p:nvSpPr>
          <p:cNvPr id="29" name="Shape 27"/>
          <p:cNvSpPr/>
          <p:nvPr/>
        </p:nvSpPr>
        <p:spPr>
          <a:xfrm>
            <a:off x="5564124" y="2093976"/>
            <a:ext cx="466710" cy="466710"/>
          </a:xfrm>
          <a:prstGeom prst="roundRect">
            <a:avLst>
              <a:gd name="adj" fmla="val 3918"/>
            </a:avLst>
          </a:prstGeom>
          <a:solidFill>
            <a:srgbClr val="2A3572"/>
          </a:solidFill>
          <a:ln/>
        </p:spPr>
      </p:sp>
      <p:sp>
        <p:nvSpPr>
          <p:cNvPr id="30" name="Shape 28"/>
          <p:cNvSpPr/>
          <p:nvPr/>
        </p:nvSpPr>
        <p:spPr>
          <a:xfrm>
            <a:off x="6094476" y="2093976"/>
            <a:ext cx="466710" cy="466710"/>
          </a:xfrm>
          <a:prstGeom prst="roundRect">
            <a:avLst>
              <a:gd name="adj" fmla="val 3918"/>
            </a:avLst>
          </a:prstGeom>
          <a:solidFill>
            <a:srgbClr val="2A3572"/>
          </a:solidFill>
          <a:ln/>
        </p:spPr>
      </p:sp>
      <p:sp>
        <p:nvSpPr>
          <p:cNvPr id="31" name="Shape 29"/>
          <p:cNvSpPr/>
          <p:nvPr/>
        </p:nvSpPr>
        <p:spPr>
          <a:xfrm>
            <a:off x="6624828" y="2093976"/>
            <a:ext cx="466710" cy="466710"/>
          </a:xfrm>
          <a:prstGeom prst="roundRect">
            <a:avLst>
              <a:gd name="adj" fmla="val 3918"/>
            </a:avLst>
          </a:prstGeom>
          <a:solidFill>
            <a:srgbClr val="141B4D"/>
          </a:solidFill>
          <a:ln/>
        </p:spPr>
      </p:sp>
      <p:sp>
        <p:nvSpPr>
          <p:cNvPr id="32" name="Shape 30"/>
          <p:cNvSpPr/>
          <p:nvPr/>
        </p:nvSpPr>
        <p:spPr>
          <a:xfrm>
            <a:off x="7155180" y="2093976"/>
            <a:ext cx="466710" cy="466710"/>
          </a:xfrm>
          <a:prstGeom prst="roundRect">
            <a:avLst>
              <a:gd name="adj" fmla="val 3918"/>
            </a:avLst>
          </a:prstGeom>
          <a:solidFill>
            <a:srgbClr val="2A3572"/>
          </a:solidFill>
          <a:ln/>
        </p:spPr>
      </p:sp>
      <p:sp>
        <p:nvSpPr>
          <p:cNvPr id="33" name="Shape 31"/>
          <p:cNvSpPr/>
          <p:nvPr/>
        </p:nvSpPr>
        <p:spPr>
          <a:xfrm>
            <a:off x="7685532" y="2093976"/>
            <a:ext cx="466710" cy="466710"/>
          </a:xfrm>
          <a:prstGeom prst="roundRect">
            <a:avLst>
              <a:gd name="adj" fmla="val 3918"/>
            </a:avLst>
          </a:prstGeom>
          <a:solidFill>
            <a:srgbClr val="2A3572"/>
          </a:solidFill>
          <a:ln/>
        </p:spPr>
      </p:sp>
      <p:sp>
        <p:nvSpPr>
          <p:cNvPr id="34" name="Shape 32"/>
          <p:cNvSpPr/>
          <p:nvPr/>
        </p:nvSpPr>
        <p:spPr>
          <a:xfrm>
            <a:off x="3973068" y="2624328"/>
            <a:ext cx="466710" cy="466710"/>
          </a:xfrm>
          <a:prstGeom prst="roundRect">
            <a:avLst>
              <a:gd name="adj" fmla="val 3918"/>
            </a:avLst>
          </a:prstGeom>
          <a:solidFill>
            <a:srgbClr val="2A3572"/>
          </a:solidFill>
          <a:ln/>
        </p:spPr>
      </p:sp>
      <p:sp>
        <p:nvSpPr>
          <p:cNvPr id="35" name="Shape 33"/>
          <p:cNvSpPr/>
          <p:nvPr/>
        </p:nvSpPr>
        <p:spPr>
          <a:xfrm>
            <a:off x="4503420" y="2624328"/>
            <a:ext cx="466710" cy="466710"/>
          </a:xfrm>
          <a:prstGeom prst="roundRect">
            <a:avLst>
              <a:gd name="adj" fmla="val 3918"/>
            </a:avLst>
          </a:prstGeom>
          <a:solidFill>
            <a:srgbClr val="2A3572"/>
          </a:solidFill>
          <a:ln/>
        </p:spPr>
      </p:sp>
      <p:sp>
        <p:nvSpPr>
          <p:cNvPr id="36" name="Shape 34"/>
          <p:cNvSpPr/>
          <p:nvPr/>
        </p:nvSpPr>
        <p:spPr>
          <a:xfrm>
            <a:off x="5033772" y="2624328"/>
            <a:ext cx="466710" cy="466710"/>
          </a:xfrm>
          <a:prstGeom prst="roundRect">
            <a:avLst>
              <a:gd name="adj" fmla="val 3918"/>
            </a:avLst>
          </a:prstGeom>
          <a:solidFill>
            <a:srgbClr val="141B4D"/>
          </a:solidFill>
          <a:ln/>
        </p:spPr>
      </p:sp>
      <p:sp>
        <p:nvSpPr>
          <p:cNvPr id="37" name="Shape 35"/>
          <p:cNvSpPr/>
          <p:nvPr/>
        </p:nvSpPr>
        <p:spPr>
          <a:xfrm>
            <a:off x="5564124" y="2624328"/>
            <a:ext cx="466710" cy="466710"/>
          </a:xfrm>
          <a:prstGeom prst="roundRect">
            <a:avLst>
              <a:gd name="adj" fmla="val 3918"/>
            </a:avLst>
          </a:prstGeom>
          <a:solidFill>
            <a:srgbClr val="2A3572"/>
          </a:solidFill>
          <a:ln/>
        </p:spPr>
      </p:sp>
      <p:sp>
        <p:nvSpPr>
          <p:cNvPr id="38" name="Shape 36"/>
          <p:cNvSpPr/>
          <p:nvPr/>
        </p:nvSpPr>
        <p:spPr>
          <a:xfrm>
            <a:off x="6094476" y="2624328"/>
            <a:ext cx="466710" cy="466710"/>
          </a:xfrm>
          <a:prstGeom prst="roundRect">
            <a:avLst>
              <a:gd name="adj" fmla="val 3918"/>
            </a:avLst>
          </a:prstGeom>
          <a:solidFill>
            <a:srgbClr val="2A3572"/>
          </a:solidFill>
          <a:ln/>
        </p:spPr>
      </p:sp>
      <p:sp>
        <p:nvSpPr>
          <p:cNvPr id="39" name="Shape 37"/>
          <p:cNvSpPr/>
          <p:nvPr/>
        </p:nvSpPr>
        <p:spPr>
          <a:xfrm>
            <a:off x="6624828" y="2624328"/>
            <a:ext cx="466710" cy="466710"/>
          </a:xfrm>
          <a:prstGeom prst="roundRect">
            <a:avLst>
              <a:gd name="adj" fmla="val 3918"/>
            </a:avLst>
          </a:prstGeom>
          <a:solidFill>
            <a:srgbClr val="141B4D"/>
          </a:solidFill>
          <a:ln/>
        </p:spPr>
      </p:sp>
      <p:sp>
        <p:nvSpPr>
          <p:cNvPr id="40" name="Shape 38"/>
          <p:cNvSpPr/>
          <p:nvPr/>
        </p:nvSpPr>
        <p:spPr>
          <a:xfrm>
            <a:off x="7155180" y="2624328"/>
            <a:ext cx="466710" cy="466710"/>
          </a:xfrm>
          <a:prstGeom prst="roundRect">
            <a:avLst>
              <a:gd name="adj" fmla="val 3918"/>
            </a:avLst>
          </a:prstGeom>
          <a:solidFill>
            <a:srgbClr val="2A3572"/>
          </a:solidFill>
          <a:ln/>
        </p:spPr>
      </p:sp>
      <p:sp>
        <p:nvSpPr>
          <p:cNvPr id="41" name="Shape 39"/>
          <p:cNvSpPr/>
          <p:nvPr/>
        </p:nvSpPr>
        <p:spPr>
          <a:xfrm>
            <a:off x="7685532" y="2624328"/>
            <a:ext cx="466710" cy="466710"/>
          </a:xfrm>
          <a:prstGeom prst="roundRect">
            <a:avLst>
              <a:gd name="adj" fmla="val 3918"/>
            </a:avLst>
          </a:prstGeom>
          <a:solidFill>
            <a:srgbClr val="2A3572"/>
          </a:solidFill>
          <a:ln/>
        </p:spPr>
      </p:sp>
      <p:sp>
        <p:nvSpPr>
          <p:cNvPr id="42" name="Text 40"/>
          <p:cNvSpPr/>
          <p:nvPr/>
        </p:nvSpPr>
        <p:spPr>
          <a:xfrm>
            <a:off x="0" y="3246120"/>
            <a:ext cx="12188952" cy="91440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PathVis</a:t>
            </a:r>
            <a:endParaRPr lang="en-US" sz="5400" dirty="0"/>
          </a:p>
        </p:txBody>
      </p:sp>
      <p:sp>
        <p:nvSpPr>
          <p:cNvPr id="43" name="Text 41"/>
          <p:cNvSpPr/>
          <p:nvPr/>
        </p:nvSpPr>
        <p:spPr>
          <a:xfrm>
            <a:off x="0" y="4114800"/>
            <a:ext cx="12188952" cy="457200"/>
          </a:xfrm>
          <a:prstGeom prst="rect">
            <a:avLst/>
          </a:prstGeom>
          <a:noFill/>
          <a:ln/>
        </p:spPr>
        <p:txBody>
          <a:bodyPr wrap="square"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An Interactive Pathfinding &amp; Maze-Generation Visualizer</a:t>
            </a:r>
            <a:endParaRPr lang="en-US" sz="1800" dirty="0"/>
          </a:p>
        </p:txBody>
      </p:sp>
      <p:sp>
        <p:nvSpPr>
          <p:cNvPr id="44" name="Shape 42"/>
          <p:cNvSpPr/>
          <p:nvPr/>
        </p:nvSpPr>
        <p:spPr>
          <a:xfrm>
            <a:off x="4480560" y="4800600"/>
            <a:ext cx="3200400" cy="0"/>
          </a:xfrm>
          <a:prstGeom prst="line">
            <a:avLst/>
          </a:prstGeom>
          <a:noFill/>
          <a:ln w="12700">
            <a:solidFill>
              <a:srgbClr val="3E477E"/>
            </a:solidFill>
            <a:prstDash val="solid"/>
          </a:ln>
        </p:spPr>
      </p:sp>
      <p:sp>
        <p:nvSpPr>
          <p:cNvPr id="45" name="Text 43"/>
          <p:cNvSpPr/>
          <p:nvPr/>
        </p:nvSpPr>
        <p:spPr>
          <a:xfrm>
            <a:off x="0" y="4983480"/>
            <a:ext cx="12188952" cy="1188720"/>
          </a:xfrm>
          <a:prstGeom prst="rect">
            <a:avLst/>
          </a:prstGeom>
          <a:noFill/>
          <a:ln/>
        </p:spPr>
        <p:txBody>
          <a:bodyPr wrap="square" rtlCol="0" anchor="ctr"/>
          <a:lstStyle/>
          <a:p>
            <a:pPr marL="0" indent="0" algn="ctr">
              <a:lnSpc>
                <a:spcPct val="135000"/>
              </a:lnSpc>
              <a:buNone/>
            </a:pPr>
            <a:r>
              <a:rPr lang="en-US" sz="1300" b="1" dirty="0">
                <a:solidFill>
                  <a:srgbClr val="FFFFFF"/>
                </a:solidFill>
                <a:latin typeface="Calibri" pitchFamily="34" charset="0"/>
                <a:ea typeface="Calibri" pitchFamily="34" charset="-122"/>
                <a:cs typeface="Calibri" pitchFamily="34" charset="-120"/>
              </a:rPr>
              <a:t>Pahulmeet Singh</a:t>
            </a:r>
            <a:endParaRPr lang="en-US" sz="1300" dirty="0"/>
          </a:p>
          <a:p>
            <a:pPr marL="0" indent="0" algn="ctr">
              <a:lnSpc>
                <a:spcPct val="135000"/>
              </a:lnSpc>
              <a:buNone/>
            </a:pPr>
            <a:r>
              <a:rPr lang="en-US" sz="1300" dirty="0">
                <a:solidFill>
                  <a:srgbClr val="CADCFC"/>
                </a:solidFill>
                <a:latin typeface="Calibri" pitchFamily="34" charset="0"/>
                <a:ea typeface="Calibri" pitchFamily="34" charset="-122"/>
                <a:cs typeface="Calibri" pitchFamily="34" charset="-120"/>
              </a:rPr>
              <a:t>Registration No. 12406443</a:t>
            </a:r>
            <a:endParaRPr lang="en-US" sz="1300" dirty="0"/>
          </a:p>
          <a:p>
            <a:pPr marL="0" indent="0" algn="ctr">
              <a:lnSpc>
                <a:spcPct val="135000"/>
              </a:lnSpc>
              <a:buNone/>
            </a:pPr>
            <a:r>
              <a:rPr lang="en-US" sz="1300" dirty="0">
                <a:solidFill>
                  <a:srgbClr val="CADCFC"/>
                </a:solidFill>
                <a:latin typeface="Calibri" pitchFamily="34" charset="0"/>
                <a:ea typeface="Calibri" pitchFamily="34" charset="-122"/>
                <a:cs typeface="Calibri" pitchFamily="34" charset="-120"/>
              </a:rPr>
              <a:t>B.Tech Computer Science &amp; Engineering</a:t>
            </a:r>
            <a:endParaRPr lang="en-US" sz="1300" dirty="0"/>
          </a:p>
          <a:p>
            <a:pPr marL="0" indent="0" algn="ctr">
              <a:lnSpc>
                <a:spcPct val="135000"/>
              </a:lnSpc>
              <a:buNone/>
            </a:pPr>
            <a:r>
              <a:rPr lang="en-US" sz="1300" dirty="0">
                <a:solidFill>
                  <a:srgbClr val="CADCFC"/>
                </a:solidFill>
                <a:latin typeface="Calibri" pitchFamily="34" charset="0"/>
                <a:ea typeface="Calibri" pitchFamily="34" charset="-122"/>
                <a:cs typeface="Calibri" pitchFamily="34" charset="-120"/>
              </a:rPr>
              <a:t>Guide: Ms. Prerita Agarwal  |  CSES001  |  Lovely Professional University</a:t>
            </a:r>
            <a:endParaRPr lang="en-US" sz="1300" dirty="0"/>
          </a:p>
        </p:txBody>
      </p:sp>
      <p:pic>
        <p:nvPicPr>
          <p:cNvPr id="46" name="Image 0" descr="/home/claude/viva_ppt/lpu_logo.png"/>
          <p:cNvPicPr>
            <a:picLocks noChangeAspect="1"/>
          </p:cNvPicPr>
          <p:nvPr/>
        </p:nvPicPr>
        <p:blipFill>
          <a:blip r:embed="rId3"/>
          <a:stretch>
            <a:fillRect/>
          </a:stretch>
        </p:blipFill>
        <p:spPr>
          <a:xfrm>
            <a:off x="502920" y="6263640"/>
            <a:ext cx="868680" cy="3602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1A00D-9765-47CC-C0F1-161C08277A1B}"/>
              </a:ext>
            </a:extLst>
          </p:cNvPr>
          <p:cNvPicPr>
            <a:picLocks noChangeAspect="1"/>
          </p:cNvPicPr>
          <p:nvPr/>
        </p:nvPicPr>
        <p:blipFill>
          <a:blip r:embed="rId2"/>
          <a:stretch>
            <a:fillRect/>
          </a:stretch>
        </p:blipFill>
        <p:spPr>
          <a:xfrm>
            <a:off x="1243533" y="0"/>
            <a:ext cx="9697736" cy="6852913"/>
          </a:xfrm>
          <a:prstGeom prst="rect">
            <a:avLst/>
          </a:prstGeom>
        </p:spPr>
      </p:pic>
    </p:spTree>
    <p:extLst>
      <p:ext uri="{BB962C8B-B14F-4D97-AF65-F5344CB8AC3E}">
        <p14:creationId xmlns:p14="http://schemas.microsoft.com/office/powerpoint/2010/main" val="653762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3" name="Shape 1"/>
          <p:cNvSpPr/>
          <p:nvPr/>
        </p:nvSpPr>
        <p:spPr>
          <a:xfrm>
            <a:off x="640080" y="2057400"/>
            <a:ext cx="384048" cy="384048"/>
          </a:xfrm>
          <a:prstGeom prst="ellipse">
            <a:avLst/>
          </a:prstGeom>
          <a:solidFill>
            <a:srgbClr val="1E2761"/>
          </a:solidFill>
          <a:ln/>
        </p:spPr>
      </p:sp>
      <p:sp>
        <p:nvSpPr>
          <p:cNvPr id="4" name="Text 2"/>
          <p:cNvSpPr/>
          <p:nvPr/>
        </p:nvSpPr>
        <p:spPr>
          <a:xfrm>
            <a:off x="640080" y="205740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p:nvPr/>
        </p:nvSpPr>
        <p:spPr>
          <a:xfrm>
            <a:off x="1170432" y="203911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Problem Statement &amp; Objectives</a:t>
            </a:r>
            <a:endParaRPr lang="en-US" sz="1550" dirty="0"/>
          </a:p>
        </p:txBody>
      </p:sp>
      <p:sp>
        <p:nvSpPr>
          <p:cNvPr id="6" name="Shape 4"/>
          <p:cNvSpPr/>
          <p:nvPr/>
        </p:nvSpPr>
        <p:spPr>
          <a:xfrm>
            <a:off x="640080" y="2834640"/>
            <a:ext cx="384048" cy="384048"/>
          </a:xfrm>
          <a:prstGeom prst="ellipse">
            <a:avLst/>
          </a:prstGeom>
          <a:solidFill>
            <a:srgbClr val="1E2761"/>
          </a:solidFill>
          <a:ln/>
        </p:spPr>
      </p:sp>
      <p:sp>
        <p:nvSpPr>
          <p:cNvPr id="7" name="Text 5"/>
          <p:cNvSpPr/>
          <p:nvPr/>
        </p:nvSpPr>
        <p:spPr>
          <a:xfrm>
            <a:off x="640080" y="283464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p:nvPr/>
        </p:nvSpPr>
        <p:spPr>
          <a:xfrm>
            <a:off x="1170432" y="281635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Scope of the Project</a:t>
            </a:r>
            <a:endParaRPr lang="en-US" sz="1550" dirty="0"/>
          </a:p>
        </p:txBody>
      </p:sp>
      <p:sp>
        <p:nvSpPr>
          <p:cNvPr id="9" name="Shape 7"/>
          <p:cNvSpPr/>
          <p:nvPr/>
        </p:nvSpPr>
        <p:spPr>
          <a:xfrm>
            <a:off x="640080" y="3611880"/>
            <a:ext cx="384048" cy="384048"/>
          </a:xfrm>
          <a:prstGeom prst="ellipse">
            <a:avLst/>
          </a:prstGeom>
          <a:solidFill>
            <a:srgbClr val="1E2761"/>
          </a:solidFill>
          <a:ln/>
        </p:spPr>
      </p:sp>
      <p:sp>
        <p:nvSpPr>
          <p:cNvPr id="10" name="Text 8"/>
          <p:cNvSpPr/>
          <p:nvPr/>
        </p:nvSpPr>
        <p:spPr>
          <a:xfrm>
            <a:off x="640080" y="361188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p:nvPr/>
        </p:nvSpPr>
        <p:spPr>
          <a:xfrm>
            <a:off x="1170432" y="359359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System Architecture</a:t>
            </a:r>
            <a:endParaRPr lang="en-US" sz="1550" dirty="0"/>
          </a:p>
        </p:txBody>
      </p:sp>
      <p:sp>
        <p:nvSpPr>
          <p:cNvPr id="12" name="Shape 10"/>
          <p:cNvSpPr/>
          <p:nvPr/>
        </p:nvSpPr>
        <p:spPr>
          <a:xfrm>
            <a:off x="640080" y="4389120"/>
            <a:ext cx="384048" cy="384048"/>
          </a:xfrm>
          <a:prstGeom prst="ellipse">
            <a:avLst/>
          </a:prstGeom>
          <a:solidFill>
            <a:srgbClr val="1E2761"/>
          </a:solidFill>
          <a:ln/>
        </p:spPr>
      </p:sp>
      <p:sp>
        <p:nvSpPr>
          <p:cNvPr id="13" name="Text 11"/>
          <p:cNvSpPr/>
          <p:nvPr/>
        </p:nvSpPr>
        <p:spPr>
          <a:xfrm>
            <a:off x="640080" y="438912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2"/>
          <p:cNvSpPr/>
          <p:nvPr/>
        </p:nvSpPr>
        <p:spPr>
          <a:xfrm>
            <a:off x="1170432" y="437083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Technology Stack</a:t>
            </a:r>
            <a:endParaRPr lang="en-US" sz="1550" dirty="0"/>
          </a:p>
        </p:txBody>
      </p:sp>
      <p:sp>
        <p:nvSpPr>
          <p:cNvPr id="15" name="Shape 13"/>
          <p:cNvSpPr/>
          <p:nvPr/>
        </p:nvSpPr>
        <p:spPr>
          <a:xfrm>
            <a:off x="6217920" y="2057400"/>
            <a:ext cx="384048" cy="384048"/>
          </a:xfrm>
          <a:prstGeom prst="ellipse">
            <a:avLst/>
          </a:prstGeom>
          <a:solidFill>
            <a:srgbClr val="1E2761"/>
          </a:solidFill>
          <a:ln/>
        </p:spPr>
      </p:sp>
      <p:sp>
        <p:nvSpPr>
          <p:cNvPr id="16" name="Text 14"/>
          <p:cNvSpPr/>
          <p:nvPr/>
        </p:nvSpPr>
        <p:spPr>
          <a:xfrm>
            <a:off x="6217920" y="205740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7" name="Text 15"/>
          <p:cNvSpPr/>
          <p:nvPr/>
        </p:nvSpPr>
        <p:spPr>
          <a:xfrm>
            <a:off x="6748272" y="203911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Algorithms Implemented</a:t>
            </a:r>
            <a:endParaRPr lang="en-US" sz="1550" dirty="0"/>
          </a:p>
        </p:txBody>
      </p:sp>
      <p:sp>
        <p:nvSpPr>
          <p:cNvPr id="18" name="Shape 16"/>
          <p:cNvSpPr/>
          <p:nvPr/>
        </p:nvSpPr>
        <p:spPr>
          <a:xfrm>
            <a:off x="6217920" y="2834640"/>
            <a:ext cx="384048" cy="384048"/>
          </a:xfrm>
          <a:prstGeom prst="ellipse">
            <a:avLst/>
          </a:prstGeom>
          <a:solidFill>
            <a:srgbClr val="1E2761"/>
          </a:solidFill>
          <a:ln/>
        </p:spPr>
      </p:sp>
      <p:sp>
        <p:nvSpPr>
          <p:cNvPr id="19" name="Text 17"/>
          <p:cNvSpPr/>
          <p:nvPr/>
        </p:nvSpPr>
        <p:spPr>
          <a:xfrm>
            <a:off x="6217920" y="283464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0" name="Text 18"/>
          <p:cNvSpPr/>
          <p:nvPr/>
        </p:nvSpPr>
        <p:spPr>
          <a:xfrm>
            <a:off x="6748272" y="281635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Maze Generation Approach</a:t>
            </a:r>
            <a:endParaRPr lang="en-US" sz="1550" dirty="0"/>
          </a:p>
        </p:txBody>
      </p:sp>
      <p:sp>
        <p:nvSpPr>
          <p:cNvPr id="21" name="Shape 19"/>
          <p:cNvSpPr/>
          <p:nvPr/>
        </p:nvSpPr>
        <p:spPr>
          <a:xfrm>
            <a:off x="6217920" y="3611880"/>
            <a:ext cx="384048" cy="384048"/>
          </a:xfrm>
          <a:prstGeom prst="ellipse">
            <a:avLst/>
          </a:prstGeom>
          <a:solidFill>
            <a:srgbClr val="1E2761"/>
          </a:solidFill>
          <a:ln/>
        </p:spPr>
      </p:sp>
      <p:sp>
        <p:nvSpPr>
          <p:cNvPr id="22" name="Text 20"/>
          <p:cNvSpPr/>
          <p:nvPr/>
        </p:nvSpPr>
        <p:spPr>
          <a:xfrm>
            <a:off x="6217920" y="361188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23" name="Text 21"/>
          <p:cNvSpPr/>
          <p:nvPr/>
        </p:nvSpPr>
        <p:spPr>
          <a:xfrm>
            <a:off x="6748272" y="359359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Testing &amp; Results</a:t>
            </a:r>
            <a:endParaRPr lang="en-US" sz="1550" dirty="0"/>
          </a:p>
        </p:txBody>
      </p:sp>
      <p:sp>
        <p:nvSpPr>
          <p:cNvPr id="24" name="Shape 22"/>
          <p:cNvSpPr/>
          <p:nvPr/>
        </p:nvSpPr>
        <p:spPr>
          <a:xfrm>
            <a:off x="6217920" y="4389120"/>
            <a:ext cx="384048" cy="384048"/>
          </a:xfrm>
          <a:prstGeom prst="ellipse">
            <a:avLst/>
          </a:prstGeom>
          <a:solidFill>
            <a:srgbClr val="1E2761"/>
          </a:solidFill>
          <a:ln/>
        </p:spPr>
      </p:sp>
      <p:sp>
        <p:nvSpPr>
          <p:cNvPr id="25" name="Text 23"/>
          <p:cNvSpPr/>
          <p:nvPr/>
        </p:nvSpPr>
        <p:spPr>
          <a:xfrm>
            <a:off x="6217920" y="438912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26" name="Text 24"/>
          <p:cNvSpPr/>
          <p:nvPr/>
        </p:nvSpPr>
        <p:spPr>
          <a:xfrm>
            <a:off x="6748272" y="4370832"/>
            <a:ext cx="4663440" cy="420624"/>
          </a:xfrm>
          <a:prstGeom prst="rect">
            <a:avLst/>
          </a:prstGeom>
          <a:noFill/>
          <a:ln/>
        </p:spPr>
        <p:txBody>
          <a:bodyPr wrap="square" rtlCol="0" anchor="ctr"/>
          <a:lstStyle/>
          <a:p>
            <a:pPr marL="0" indent="0">
              <a:buNone/>
            </a:pPr>
            <a:r>
              <a:rPr lang="en-US" sz="1550" dirty="0">
                <a:solidFill>
                  <a:srgbClr val="1B1F3B"/>
                </a:solidFill>
                <a:latin typeface="Calibri" pitchFamily="34" charset="0"/>
                <a:ea typeface="Calibri" pitchFamily="34" charset="-122"/>
                <a:cs typeface="Calibri" pitchFamily="34" charset="-120"/>
              </a:rPr>
              <a:t>Limitations &amp; Future Scope</a:t>
            </a:r>
            <a:endParaRPr lang="en-US" sz="1550" dirty="0"/>
          </a:p>
        </p:txBody>
      </p:sp>
      <p:sp>
        <p:nvSpPr>
          <p:cNvPr id="27" name="Shape 25"/>
          <p:cNvSpPr/>
          <p:nvPr/>
        </p:nvSpPr>
        <p:spPr>
          <a:xfrm>
            <a:off x="9006840" y="5257800"/>
            <a:ext cx="209215" cy="209215"/>
          </a:xfrm>
          <a:prstGeom prst="roundRect">
            <a:avLst>
              <a:gd name="adj" fmla="val 8741"/>
            </a:avLst>
          </a:prstGeom>
          <a:solidFill>
            <a:srgbClr val="EEF2FC"/>
          </a:solidFill>
          <a:ln/>
        </p:spPr>
      </p:sp>
      <p:sp>
        <p:nvSpPr>
          <p:cNvPr id="28" name="Shape 26"/>
          <p:cNvSpPr/>
          <p:nvPr/>
        </p:nvSpPr>
        <p:spPr>
          <a:xfrm>
            <a:off x="9244584" y="5257800"/>
            <a:ext cx="209215" cy="209215"/>
          </a:xfrm>
          <a:prstGeom prst="roundRect">
            <a:avLst>
              <a:gd name="adj" fmla="val 8741"/>
            </a:avLst>
          </a:prstGeom>
          <a:solidFill>
            <a:srgbClr val="EEF2FC"/>
          </a:solidFill>
          <a:ln/>
        </p:spPr>
      </p:sp>
      <p:sp>
        <p:nvSpPr>
          <p:cNvPr id="29" name="Shape 27"/>
          <p:cNvSpPr/>
          <p:nvPr/>
        </p:nvSpPr>
        <p:spPr>
          <a:xfrm>
            <a:off x="9482328" y="5257800"/>
            <a:ext cx="209215" cy="209215"/>
          </a:xfrm>
          <a:prstGeom prst="roundRect">
            <a:avLst>
              <a:gd name="adj" fmla="val 8741"/>
            </a:avLst>
          </a:prstGeom>
          <a:solidFill>
            <a:srgbClr val="CADCFC"/>
          </a:solidFill>
          <a:ln/>
        </p:spPr>
      </p:sp>
      <p:sp>
        <p:nvSpPr>
          <p:cNvPr id="30" name="Shape 28"/>
          <p:cNvSpPr/>
          <p:nvPr/>
        </p:nvSpPr>
        <p:spPr>
          <a:xfrm>
            <a:off x="9720072" y="5257800"/>
            <a:ext cx="209215" cy="209215"/>
          </a:xfrm>
          <a:prstGeom prst="roundRect">
            <a:avLst>
              <a:gd name="adj" fmla="val 8741"/>
            </a:avLst>
          </a:prstGeom>
          <a:solidFill>
            <a:srgbClr val="EEF2FC"/>
          </a:solidFill>
          <a:ln/>
        </p:spPr>
      </p:sp>
      <p:sp>
        <p:nvSpPr>
          <p:cNvPr id="31" name="Shape 29"/>
          <p:cNvSpPr/>
          <p:nvPr/>
        </p:nvSpPr>
        <p:spPr>
          <a:xfrm>
            <a:off x="9957816" y="5257800"/>
            <a:ext cx="209215" cy="209215"/>
          </a:xfrm>
          <a:prstGeom prst="roundRect">
            <a:avLst>
              <a:gd name="adj" fmla="val 8741"/>
            </a:avLst>
          </a:prstGeom>
          <a:solidFill>
            <a:srgbClr val="EEF2FC"/>
          </a:solidFill>
          <a:ln/>
        </p:spPr>
      </p:sp>
      <p:sp>
        <p:nvSpPr>
          <p:cNvPr id="32" name="Shape 30"/>
          <p:cNvSpPr/>
          <p:nvPr/>
        </p:nvSpPr>
        <p:spPr>
          <a:xfrm>
            <a:off x="10195560" y="5257800"/>
            <a:ext cx="209215" cy="209215"/>
          </a:xfrm>
          <a:prstGeom prst="roundRect">
            <a:avLst>
              <a:gd name="adj" fmla="val 8741"/>
            </a:avLst>
          </a:prstGeom>
          <a:solidFill>
            <a:srgbClr val="CADCFC"/>
          </a:solidFill>
          <a:ln/>
        </p:spPr>
      </p:sp>
      <p:sp>
        <p:nvSpPr>
          <p:cNvPr id="33" name="Shape 31"/>
          <p:cNvSpPr/>
          <p:nvPr/>
        </p:nvSpPr>
        <p:spPr>
          <a:xfrm>
            <a:off x="10433304" y="5257800"/>
            <a:ext cx="209215" cy="209215"/>
          </a:xfrm>
          <a:prstGeom prst="roundRect">
            <a:avLst>
              <a:gd name="adj" fmla="val 8741"/>
            </a:avLst>
          </a:prstGeom>
          <a:solidFill>
            <a:srgbClr val="EEF2FC"/>
          </a:solidFill>
          <a:ln/>
        </p:spPr>
      </p:sp>
      <p:sp>
        <p:nvSpPr>
          <p:cNvPr id="34" name="Shape 32"/>
          <p:cNvSpPr/>
          <p:nvPr/>
        </p:nvSpPr>
        <p:spPr>
          <a:xfrm>
            <a:off x="10671048" y="5257800"/>
            <a:ext cx="209215" cy="209215"/>
          </a:xfrm>
          <a:prstGeom prst="roundRect">
            <a:avLst>
              <a:gd name="adj" fmla="val 8741"/>
            </a:avLst>
          </a:prstGeom>
          <a:solidFill>
            <a:srgbClr val="EEF2FC"/>
          </a:solidFill>
          <a:ln/>
        </p:spPr>
      </p:sp>
      <p:sp>
        <p:nvSpPr>
          <p:cNvPr id="35" name="Shape 33"/>
          <p:cNvSpPr/>
          <p:nvPr/>
        </p:nvSpPr>
        <p:spPr>
          <a:xfrm>
            <a:off x="9006840" y="5495544"/>
            <a:ext cx="209215" cy="209215"/>
          </a:xfrm>
          <a:prstGeom prst="roundRect">
            <a:avLst>
              <a:gd name="adj" fmla="val 8741"/>
            </a:avLst>
          </a:prstGeom>
          <a:solidFill>
            <a:srgbClr val="EEF2FC"/>
          </a:solidFill>
          <a:ln/>
        </p:spPr>
      </p:sp>
      <p:sp>
        <p:nvSpPr>
          <p:cNvPr id="36" name="Shape 34"/>
          <p:cNvSpPr/>
          <p:nvPr/>
        </p:nvSpPr>
        <p:spPr>
          <a:xfrm>
            <a:off x="9244584" y="5495544"/>
            <a:ext cx="209215" cy="209215"/>
          </a:xfrm>
          <a:prstGeom prst="roundRect">
            <a:avLst>
              <a:gd name="adj" fmla="val 8741"/>
            </a:avLst>
          </a:prstGeom>
          <a:solidFill>
            <a:srgbClr val="EEF2FC"/>
          </a:solidFill>
          <a:ln/>
        </p:spPr>
      </p:sp>
      <p:sp>
        <p:nvSpPr>
          <p:cNvPr id="37" name="Shape 35"/>
          <p:cNvSpPr/>
          <p:nvPr/>
        </p:nvSpPr>
        <p:spPr>
          <a:xfrm>
            <a:off x="9482328" y="5495544"/>
            <a:ext cx="209215" cy="209215"/>
          </a:xfrm>
          <a:prstGeom prst="roundRect">
            <a:avLst>
              <a:gd name="adj" fmla="val 8741"/>
            </a:avLst>
          </a:prstGeom>
          <a:solidFill>
            <a:srgbClr val="CADCFC"/>
          </a:solidFill>
          <a:ln/>
        </p:spPr>
      </p:sp>
      <p:sp>
        <p:nvSpPr>
          <p:cNvPr id="38" name="Shape 36"/>
          <p:cNvSpPr/>
          <p:nvPr/>
        </p:nvSpPr>
        <p:spPr>
          <a:xfrm>
            <a:off x="9720072" y="5495544"/>
            <a:ext cx="209215" cy="209215"/>
          </a:xfrm>
          <a:prstGeom prst="roundRect">
            <a:avLst>
              <a:gd name="adj" fmla="val 8741"/>
            </a:avLst>
          </a:prstGeom>
          <a:solidFill>
            <a:srgbClr val="EEF2FC"/>
          </a:solidFill>
          <a:ln/>
        </p:spPr>
      </p:sp>
      <p:sp>
        <p:nvSpPr>
          <p:cNvPr id="39" name="Shape 37"/>
          <p:cNvSpPr/>
          <p:nvPr/>
        </p:nvSpPr>
        <p:spPr>
          <a:xfrm>
            <a:off x="9957816" y="5495544"/>
            <a:ext cx="209215" cy="209215"/>
          </a:xfrm>
          <a:prstGeom prst="roundRect">
            <a:avLst>
              <a:gd name="adj" fmla="val 8741"/>
            </a:avLst>
          </a:prstGeom>
          <a:solidFill>
            <a:srgbClr val="EEF2FC"/>
          </a:solidFill>
          <a:ln/>
        </p:spPr>
      </p:sp>
      <p:sp>
        <p:nvSpPr>
          <p:cNvPr id="40" name="Shape 38"/>
          <p:cNvSpPr/>
          <p:nvPr/>
        </p:nvSpPr>
        <p:spPr>
          <a:xfrm>
            <a:off x="10195560" y="5495544"/>
            <a:ext cx="209215" cy="209215"/>
          </a:xfrm>
          <a:prstGeom prst="roundRect">
            <a:avLst>
              <a:gd name="adj" fmla="val 8741"/>
            </a:avLst>
          </a:prstGeom>
          <a:solidFill>
            <a:srgbClr val="CADCFC"/>
          </a:solidFill>
          <a:ln/>
        </p:spPr>
      </p:sp>
      <p:sp>
        <p:nvSpPr>
          <p:cNvPr id="41" name="Shape 39"/>
          <p:cNvSpPr/>
          <p:nvPr/>
        </p:nvSpPr>
        <p:spPr>
          <a:xfrm>
            <a:off x="10433304" y="5495544"/>
            <a:ext cx="209215" cy="209215"/>
          </a:xfrm>
          <a:prstGeom prst="roundRect">
            <a:avLst>
              <a:gd name="adj" fmla="val 8741"/>
            </a:avLst>
          </a:prstGeom>
          <a:solidFill>
            <a:srgbClr val="EEF2FC"/>
          </a:solidFill>
          <a:ln/>
        </p:spPr>
      </p:sp>
      <p:sp>
        <p:nvSpPr>
          <p:cNvPr id="42" name="Shape 40"/>
          <p:cNvSpPr/>
          <p:nvPr/>
        </p:nvSpPr>
        <p:spPr>
          <a:xfrm>
            <a:off x="10671048" y="5495544"/>
            <a:ext cx="209215" cy="209215"/>
          </a:xfrm>
          <a:prstGeom prst="roundRect">
            <a:avLst>
              <a:gd name="adj" fmla="val 8741"/>
            </a:avLst>
          </a:prstGeom>
          <a:solidFill>
            <a:srgbClr val="EEF2FC"/>
          </a:solidFill>
          <a:ln/>
        </p:spPr>
      </p:sp>
      <p:sp>
        <p:nvSpPr>
          <p:cNvPr id="43" name="Shape 41"/>
          <p:cNvSpPr/>
          <p:nvPr/>
        </p:nvSpPr>
        <p:spPr>
          <a:xfrm>
            <a:off x="9006840" y="5733288"/>
            <a:ext cx="209215" cy="209215"/>
          </a:xfrm>
          <a:prstGeom prst="roundRect">
            <a:avLst>
              <a:gd name="adj" fmla="val 8741"/>
            </a:avLst>
          </a:prstGeom>
          <a:solidFill>
            <a:srgbClr val="2EC4B6"/>
          </a:solidFill>
          <a:ln/>
        </p:spPr>
      </p:sp>
      <p:sp>
        <p:nvSpPr>
          <p:cNvPr id="44" name="Shape 42"/>
          <p:cNvSpPr/>
          <p:nvPr/>
        </p:nvSpPr>
        <p:spPr>
          <a:xfrm>
            <a:off x="9244584" y="5733288"/>
            <a:ext cx="209215" cy="209215"/>
          </a:xfrm>
          <a:prstGeom prst="roundRect">
            <a:avLst>
              <a:gd name="adj" fmla="val 8741"/>
            </a:avLst>
          </a:prstGeom>
          <a:solidFill>
            <a:srgbClr val="2EC4B6"/>
          </a:solidFill>
          <a:ln/>
        </p:spPr>
      </p:sp>
      <p:sp>
        <p:nvSpPr>
          <p:cNvPr id="45" name="Shape 43"/>
          <p:cNvSpPr/>
          <p:nvPr/>
        </p:nvSpPr>
        <p:spPr>
          <a:xfrm>
            <a:off x="9482328" y="5733288"/>
            <a:ext cx="209215" cy="209215"/>
          </a:xfrm>
          <a:prstGeom prst="roundRect">
            <a:avLst>
              <a:gd name="adj" fmla="val 8741"/>
            </a:avLst>
          </a:prstGeom>
          <a:solidFill>
            <a:srgbClr val="2EC4B6"/>
          </a:solidFill>
          <a:ln/>
        </p:spPr>
      </p:sp>
      <p:sp>
        <p:nvSpPr>
          <p:cNvPr id="46" name="Shape 44"/>
          <p:cNvSpPr/>
          <p:nvPr/>
        </p:nvSpPr>
        <p:spPr>
          <a:xfrm>
            <a:off x="9720072" y="5733288"/>
            <a:ext cx="209215" cy="209215"/>
          </a:xfrm>
          <a:prstGeom prst="roundRect">
            <a:avLst>
              <a:gd name="adj" fmla="val 8741"/>
            </a:avLst>
          </a:prstGeom>
          <a:solidFill>
            <a:srgbClr val="2EC4B6"/>
          </a:solidFill>
          <a:ln/>
        </p:spPr>
      </p:sp>
      <p:sp>
        <p:nvSpPr>
          <p:cNvPr id="47" name="Shape 45"/>
          <p:cNvSpPr/>
          <p:nvPr/>
        </p:nvSpPr>
        <p:spPr>
          <a:xfrm>
            <a:off x="9957816" y="5733288"/>
            <a:ext cx="209215" cy="209215"/>
          </a:xfrm>
          <a:prstGeom prst="roundRect">
            <a:avLst>
              <a:gd name="adj" fmla="val 8741"/>
            </a:avLst>
          </a:prstGeom>
          <a:solidFill>
            <a:srgbClr val="2EC4B6"/>
          </a:solidFill>
          <a:ln/>
        </p:spPr>
      </p:sp>
      <p:sp>
        <p:nvSpPr>
          <p:cNvPr id="48" name="Shape 46"/>
          <p:cNvSpPr/>
          <p:nvPr/>
        </p:nvSpPr>
        <p:spPr>
          <a:xfrm>
            <a:off x="10195560" y="5733288"/>
            <a:ext cx="209215" cy="209215"/>
          </a:xfrm>
          <a:prstGeom prst="roundRect">
            <a:avLst>
              <a:gd name="adj" fmla="val 8741"/>
            </a:avLst>
          </a:prstGeom>
          <a:solidFill>
            <a:srgbClr val="2EC4B6"/>
          </a:solidFill>
          <a:ln/>
        </p:spPr>
      </p:sp>
      <p:sp>
        <p:nvSpPr>
          <p:cNvPr id="49" name="Shape 47"/>
          <p:cNvSpPr/>
          <p:nvPr/>
        </p:nvSpPr>
        <p:spPr>
          <a:xfrm>
            <a:off x="10433304" y="5733288"/>
            <a:ext cx="209215" cy="209215"/>
          </a:xfrm>
          <a:prstGeom prst="roundRect">
            <a:avLst>
              <a:gd name="adj" fmla="val 8741"/>
            </a:avLst>
          </a:prstGeom>
          <a:solidFill>
            <a:srgbClr val="2EC4B6"/>
          </a:solidFill>
          <a:ln/>
        </p:spPr>
      </p:sp>
      <p:sp>
        <p:nvSpPr>
          <p:cNvPr id="50" name="Shape 48"/>
          <p:cNvSpPr/>
          <p:nvPr/>
        </p:nvSpPr>
        <p:spPr>
          <a:xfrm>
            <a:off x="10671048" y="5733288"/>
            <a:ext cx="209215" cy="209215"/>
          </a:xfrm>
          <a:prstGeom prst="roundRect">
            <a:avLst>
              <a:gd name="adj" fmla="val 8741"/>
            </a:avLst>
          </a:prstGeom>
          <a:solidFill>
            <a:srgbClr val="2EC4B6"/>
          </a:solidFill>
          <a:ln/>
        </p:spPr>
      </p:sp>
      <p:sp>
        <p:nvSpPr>
          <p:cNvPr id="51" name="Shape 49"/>
          <p:cNvSpPr/>
          <p:nvPr/>
        </p:nvSpPr>
        <p:spPr>
          <a:xfrm>
            <a:off x="9006840" y="5971032"/>
            <a:ext cx="209215" cy="209215"/>
          </a:xfrm>
          <a:prstGeom prst="roundRect">
            <a:avLst>
              <a:gd name="adj" fmla="val 8741"/>
            </a:avLst>
          </a:prstGeom>
          <a:solidFill>
            <a:srgbClr val="EEF2FC"/>
          </a:solidFill>
          <a:ln/>
        </p:spPr>
      </p:sp>
      <p:sp>
        <p:nvSpPr>
          <p:cNvPr id="52" name="Shape 50"/>
          <p:cNvSpPr/>
          <p:nvPr/>
        </p:nvSpPr>
        <p:spPr>
          <a:xfrm>
            <a:off x="9244584" y="5971032"/>
            <a:ext cx="209215" cy="209215"/>
          </a:xfrm>
          <a:prstGeom prst="roundRect">
            <a:avLst>
              <a:gd name="adj" fmla="val 8741"/>
            </a:avLst>
          </a:prstGeom>
          <a:solidFill>
            <a:srgbClr val="EEF2FC"/>
          </a:solidFill>
          <a:ln/>
        </p:spPr>
      </p:sp>
      <p:sp>
        <p:nvSpPr>
          <p:cNvPr id="53" name="Shape 51"/>
          <p:cNvSpPr/>
          <p:nvPr/>
        </p:nvSpPr>
        <p:spPr>
          <a:xfrm>
            <a:off x="9482328" y="5971032"/>
            <a:ext cx="209215" cy="209215"/>
          </a:xfrm>
          <a:prstGeom prst="roundRect">
            <a:avLst>
              <a:gd name="adj" fmla="val 8741"/>
            </a:avLst>
          </a:prstGeom>
          <a:solidFill>
            <a:srgbClr val="CADCFC"/>
          </a:solidFill>
          <a:ln/>
        </p:spPr>
      </p:sp>
      <p:sp>
        <p:nvSpPr>
          <p:cNvPr id="54" name="Shape 52"/>
          <p:cNvSpPr/>
          <p:nvPr/>
        </p:nvSpPr>
        <p:spPr>
          <a:xfrm>
            <a:off x="9720072" y="5971032"/>
            <a:ext cx="209215" cy="209215"/>
          </a:xfrm>
          <a:prstGeom prst="roundRect">
            <a:avLst>
              <a:gd name="adj" fmla="val 8741"/>
            </a:avLst>
          </a:prstGeom>
          <a:solidFill>
            <a:srgbClr val="EEF2FC"/>
          </a:solidFill>
          <a:ln/>
        </p:spPr>
      </p:sp>
      <p:sp>
        <p:nvSpPr>
          <p:cNvPr id="55" name="Shape 53"/>
          <p:cNvSpPr/>
          <p:nvPr/>
        </p:nvSpPr>
        <p:spPr>
          <a:xfrm>
            <a:off x="9957816" y="5971032"/>
            <a:ext cx="209215" cy="209215"/>
          </a:xfrm>
          <a:prstGeom prst="roundRect">
            <a:avLst>
              <a:gd name="adj" fmla="val 8741"/>
            </a:avLst>
          </a:prstGeom>
          <a:solidFill>
            <a:srgbClr val="EEF2FC"/>
          </a:solidFill>
          <a:ln/>
        </p:spPr>
      </p:sp>
      <p:sp>
        <p:nvSpPr>
          <p:cNvPr id="56" name="Shape 54"/>
          <p:cNvSpPr/>
          <p:nvPr/>
        </p:nvSpPr>
        <p:spPr>
          <a:xfrm>
            <a:off x="10195560" y="5971032"/>
            <a:ext cx="209215" cy="209215"/>
          </a:xfrm>
          <a:prstGeom prst="roundRect">
            <a:avLst>
              <a:gd name="adj" fmla="val 8741"/>
            </a:avLst>
          </a:prstGeom>
          <a:solidFill>
            <a:srgbClr val="CADCFC"/>
          </a:solidFill>
          <a:ln/>
        </p:spPr>
      </p:sp>
      <p:sp>
        <p:nvSpPr>
          <p:cNvPr id="57" name="Shape 55"/>
          <p:cNvSpPr/>
          <p:nvPr/>
        </p:nvSpPr>
        <p:spPr>
          <a:xfrm>
            <a:off x="10433304" y="5971032"/>
            <a:ext cx="209215" cy="209215"/>
          </a:xfrm>
          <a:prstGeom prst="roundRect">
            <a:avLst>
              <a:gd name="adj" fmla="val 8741"/>
            </a:avLst>
          </a:prstGeom>
          <a:solidFill>
            <a:srgbClr val="EEF2FC"/>
          </a:solidFill>
          <a:ln/>
        </p:spPr>
      </p:sp>
      <p:sp>
        <p:nvSpPr>
          <p:cNvPr id="58" name="Shape 56"/>
          <p:cNvSpPr/>
          <p:nvPr/>
        </p:nvSpPr>
        <p:spPr>
          <a:xfrm>
            <a:off x="10671048" y="5971032"/>
            <a:ext cx="209215" cy="209215"/>
          </a:xfrm>
          <a:prstGeom prst="roundRect">
            <a:avLst>
              <a:gd name="adj" fmla="val 8741"/>
            </a:avLst>
          </a:prstGeom>
          <a:solidFill>
            <a:srgbClr val="EEF2FC"/>
          </a:solidFill>
          <a:ln/>
        </p:spPr>
      </p:sp>
      <p:sp>
        <p:nvSpPr>
          <p:cNvPr id="59" name="Shape 57"/>
          <p:cNvSpPr/>
          <p:nvPr/>
        </p:nvSpPr>
        <p:spPr>
          <a:xfrm>
            <a:off x="9006840" y="6208776"/>
            <a:ext cx="209215" cy="209215"/>
          </a:xfrm>
          <a:prstGeom prst="roundRect">
            <a:avLst>
              <a:gd name="adj" fmla="val 8741"/>
            </a:avLst>
          </a:prstGeom>
          <a:solidFill>
            <a:srgbClr val="EEF2FC"/>
          </a:solidFill>
          <a:ln/>
        </p:spPr>
      </p:sp>
      <p:sp>
        <p:nvSpPr>
          <p:cNvPr id="60" name="Shape 58"/>
          <p:cNvSpPr/>
          <p:nvPr/>
        </p:nvSpPr>
        <p:spPr>
          <a:xfrm>
            <a:off x="9244584" y="6208776"/>
            <a:ext cx="209215" cy="209215"/>
          </a:xfrm>
          <a:prstGeom prst="roundRect">
            <a:avLst>
              <a:gd name="adj" fmla="val 8741"/>
            </a:avLst>
          </a:prstGeom>
          <a:solidFill>
            <a:srgbClr val="EEF2FC"/>
          </a:solidFill>
          <a:ln/>
        </p:spPr>
      </p:sp>
      <p:sp>
        <p:nvSpPr>
          <p:cNvPr id="61" name="Shape 59"/>
          <p:cNvSpPr/>
          <p:nvPr/>
        </p:nvSpPr>
        <p:spPr>
          <a:xfrm>
            <a:off x="9482328" y="6208776"/>
            <a:ext cx="209215" cy="209215"/>
          </a:xfrm>
          <a:prstGeom prst="roundRect">
            <a:avLst>
              <a:gd name="adj" fmla="val 8741"/>
            </a:avLst>
          </a:prstGeom>
          <a:solidFill>
            <a:srgbClr val="CADCFC"/>
          </a:solidFill>
          <a:ln/>
        </p:spPr>
      </p:sp>
      <p:sp>
        <p:nvSpPr>
          <p:cNvPr id="62" name="Shape 60"/>
          <p:cNvSpPr/>
          <p:nvPr/>
        </p:nvSpPr>
        <p:spPr>
          <a:xfrm>
            <a:off x="9720072" y="6208776"/>
            <a:ext cx="209215" cy="209215"/>
          </a:xfrm>
          <a:prstGeom prst="roundRect">
            <a:avLst>
              <a:gd name="adj" fmla="val 8741"/>
            </a:avLst>
          </a:prstGeom>
          <a:solidFill>
            <a:srgbClr val="EEF2FC"/>
          </a:solidFill>
          <a:ln/>
        </p:spPr>
      </p:sp>
      <p:sp>
        <p:nvSpPr>
          <p:cNvPr id="63" name="Shape 61"/>
          <p:cNvSpPr/>
          <p:nvPr/>
        </p:nvSpPr>
        <p:spPr>
          <a:xfrm>
            <a:off x="9957816" y="6208776"/>
            <a:ext cx="209215" cy="209215"/>
          </a:xfrm>
          <a:prstGeom prst="roundRect">
            <a:avLst>
              <a:gd name="adj" fmla="val 8741"/>
            </a:avLst>
          </a:prstGeom>
          <a:solidFill>
            <a:srgbClr val="EEF2FC"/>
          </a:solidFill>
          <a:ln/>
        </p:spPr>
      </p:sp>
      <p:sp>
        <p:nvSpPr>
          <p:cNvPr id="64" name="Shape 62"/>
          <p:cNvSpPr/>
          <p:nvPr/>
        </p:nvSpPr>
        <p:spPr>
          <a:xfrm>
            <a:off x="10195560" y="6208776"/>
            <a:ext cx="209215" cy="209215"/>
          </a:xfrm>
          <a:prstGeom prst="roundRect">
            <a:avLst>
              <a:gd name="adj" fmla="val 8741"/>
            </a:avLst>
          </a:prstGeom>
          <a:solidFill>
            <a:srgbClr val="CADCFC"/>
          </a:solidFill>
          <a:ln/>
        </p:spPr>
      </p:sp>
      <p:sp>
        <p:nvSpPr>
          <p:cNvPr id="65" name="Shape 63"/>
          <p:cNvSpPr/>
          <p:nvPr/>
        </p:nvSpPr>
        <p:spPr>
          <a:xfrm>
            <a:off x="10433304" y="6208776"/>
            <a:ext cx="209215" cy="209215"/>
          </a:xfrm>
          <a:prstGeom prst="roundRect">
            <a:avLst>
              <a:gd name="adj" fmla="val 8741"/>
            </a:avLst>
          </a:prstGeom>
          <a:solidFill>
            <a:srgbClr val="EEF2FC"/>
          </a:solidFill>
          <a:ln/>
        </p:spPr>
      </p:sp>
      <p:sp>
        <p:nvSpPr>
          <p:cNvPr id="66" name="Shape 64"/>
          <p:cNvSpPr/>
          <p:nvPr/>
        </p:nvSpPr>
        <p:spPr>
          <a:xfrm>
            <a:off x="10671048" y="6208776"/>
            <a:ext cx="209215" cy="209215"/>
          </a:xfrm>
          <a:prstGeom prst="roundRect">
            <a:avLst>
              <a:gd name="adj" fmla="val 8741"/>
            </a:avLst>
          </a:prstGeom>
          <a:solidFill>
            <a:srgbClr val="EEF2FC"/>
          </a:solidFill>
          <a:ln/>
        </p:spPr>
      </p:sp>
      <p:sp>
        <p:nvSpPr>
          <p:cNvPr id="67" name="Text 65"/>
          <p:cNvSpPr/>
          <p:nvPr/>
        </p:nvSpPr>
        <p:spPr>
          <a:xfrm>
            <a:off x="640080" y="5989320"/>
            <a:ext cx="7863840" cy="548640"/>
          </a:xfrm>
          <a:prstGeom prst="rect">
            <a:avLst/>
          </a:prstGeom>
          <a:noFill/>
          <a:ln/>
        </p:spPr>
        <p:txBody>
          <a:bodyPr wrap="square" rtlCol="0" anchor="ctr"/>
          <a:lstStyle/>
          <a:p>
            <a:pPr marL="0" indent="0">
              <a:buNone/>
            </a:pPr>
            <a:r>
              <a:rPr lang="en-US" sz="1200" i="1" dirty="0">
                <a:solidFill>
                  <a:srgbClr val="5B6280"/>
                </a:solidFill>
                <a:latin typeface="Calibri" pitchFamily="34" charset="0"/>
                <a:ea typeface="Calibri" pitchFamily="34" charset="-122"/>
                <a:cs typeface="Calibri" pitchFamily="34" charset="-120"/>
              </a:rPr>
              <a:t>A quick note before we start: I'm walking through this in order, but happy to jump to any section if you'd like to go deeper.</a:t>
            </a:r>
            <a:endParaRPr lang="en-US" sz="1200" dirty="0"/>
          </a:p>
        </p:txBody>
      </p:sp>
      <p:sp>
        <p:nvSpPr>
          <p:cNvPr id="68" name="Text 66"/>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640080" y="1828800"/>
            <a:ext cx="6309360" cy="3931920"/>
          </a:xfrm>
          <a:prstGeom prst="rect">
            <a:avLst/>
          </a:prstGeom>
          <a:noFill/>
          <a:ln/>
        </p:spPr>
        <p:txBody>
          <a:bodyPr wrap="square" rtlCol="0" anchor="t"/>
          <a:lstStyle/>
          <a:p>
            <a:pPr marL="0" indent="0">
              <a:lnSpc>
                <a:spcPct val="130000"/>
              </a:lnSpc>
              <a:buNone/>
            </a:pPr>
            <a:r>
              <a:rPr lang="en-US" sz="1700" dirty="0">
                <a:solidFill>
                  <a:srgbClr val="1B1F3B"/>
                </a:solidFill>
                <a:latin typeface="Calibri" pitchFamily="34" charset="0"/>
                <a:ea typeface="Calibri" pitchFamily="34" charset="-122"/>
                <a:cs typeface="Calibri" pitchFamily="34" charset="-120"/>
              </a:rPr>
              <a:t>Pathfinding algorithms are usually taught through </a:t>
            </a:r>
            <a:r>
              <a:rPr lang="en-US" sz="1700" b="1" dirty="0">
                <a:solidFill>
                  <a:srgbClr val="1E2761"/>
                </a:solidFill>
                <a:latin typeface="Calibri" pitchFamily="34" charset="0"/>
                <a:ea typeface="Calibri" pitchFamily="34" charset="-122"/>
                <a:cs typeface="Calibri" pitchFamily="34" charset="-120"/>
              </a:rPr>
              <a:t>static pseudocode and hand-traced diagrams</a:t>
            </a:r>
            <a:r>
              <a:rPr lang="en-US" sz="1700" dirty="0">
                <a:solidFill>
                  <a:srgbClr val="1B1F3B"/>
                </a:solidFill>
                <a:latin typeface="Calibri" pitchFamily="34" charset="0"/>
                <a:ea typeface="Calibri" pitchFamily="34" charset="-122"/>
                <a:cs typeface="Calibri" pitchFamily="34" charset="-120"/>
              </a:rPr>
              <a:t>.</a:t>
            </a:r>
            <a:endParaRPr lang="en-US" sz="1700" dirty="0"/>
          </a:p>
          <a:p>
            <a:pPr marL="0" indent="0">
              <a:lnSpc>
                <a:spcPct val="130000"/>
              </a:lnSpc>
              <a:buNone/>
            </a:pPr>
            <a:r>
              <a:rPr lang="en-US" sz="1700" dirty="0">
                <a:solidFill>
                  <a:srgbClr val="1B1F3B"/>
                </a:solidFill>
                <a:latin typeface="Calibri" pitchFamily="34" charset="0"/>
                <a:ea typeface="Calibri" pitchFamily="34" charset="-122"/>
                <a:cs typeface="Calibri" pitchFamily="34" charset="-120"/>
              </a:rPr>
              <a:t>A student can correctly say </a:t>
            </a:r>
            <a:r>
              <a:rPr lang="en-US" sz="1700" i="1" dirty="0">
                <a:solidFill>
                  <a:srgbClr val="1B1F3B"/>
                </a:solidFill>
                <a:latin typeface="Calibri" pitchFamily="34" charset="0"/>
                <a:ea typeface="Calibri" pitchFamily="34" charset="-122"/>
                <a:cs typeface="Calibri" pitchFamily="34" charset="-120"/>
              </a:rPr>
              <a:t>“A* visits fewer nodes than Dijkstra”</a:t>
            </a:r>
            <a:r>
              <a:rPr lang="en-US" sz="1700" dirty="0">
                <a:solidFill>
                  <a:srgbClr val="1B1F3B"/>
                </a:solidFill>
                <a:latin typeface="Calibri" pitchFamily="34" charset="0"/>
                <a:ea typeface="Calibri" pitchFamily="34" charset="-122"/>
                <a:cs typeface="Calibri" pitchFamily="34" charset="-120"/>
              </a:rPr>
              <a:t> as an exam fact — without ever having watched the two algorithms diverge on the same input.</a:t>
            </a:r>
            <a:endParaRPr lang="en-US" sz="1700" dirty="0"/>
          </a:p>
          <a:p>
            <a:pPr marL="0" indent="0">
              <a:lnSpc>
                <a:spcPct val="130000"/>
              </a:lnSpc>
              <a:buNone/>
            </a:pPr>
            <a:r>
              <a:rPr lang="en-US" sz="1700" dirty="0">
                <a:solidFill>
                  <a:srgbClr val="1B1F3B"/>
                </a:solidFill>
                <a:latin typeface="Calibri" pitchFamily="34" charset="0"/>
                <a:ea typeface="Calibri" pitchFamily="34" charset="-122"/>
                <a:cs typeface="Calibri" pitchFamily="34" charset="-120"/>
              </a:rPr>
              <a:t>PathVis turns that abstract claim into a </a:t>
            </a:r>
            <a:r>
              <a:rPr lang="en-US" sz="1700" b="1" dirty="0">
                <a:solidFill>
                  <a:srgbClr val="2EC4B6"/>
                </a:solidFill>
                <a:latin typeface="Calibri" pitchFamily="34" charset="0"/>
                <a:ea typeface="Calibri" pitchFamily="34" charset="-122"/>
                <a:cs typeface="Calibri" pitchFamily="34" charset="-120"/>
              </a:rPr>
              <a:t>visible, repeatable experiment.</a:t>
            </a:r>
            <a:endParaRPr lang="en-US" sz="1700" dirty="0"/>
          </a:p>
        </p:txBody>
      </p:sp>
      <p:sp>
        <p:nvSpPr>
          <p:cNvPr id="4" name="Shape 2"/>
          <p:cNvSpPr/>
          <p:nvPr/>
        </p:nvSpPr>
        <p:spPr>
          <a:xfrm>
            <a:off x="7452360" y="1920240"/>
            <a:ext cx="4114800" cy="4114800"/>
          </a:xfrm>
          <a:prstGeom prst="roundRect">
            <a:avLst>
              <a:gd name="adj" fmla="val 1778"/>
            </a:avLst>
          </a:prstGeom>
          <a:solidFill>
            <a:srgbClr val="F4F7FE"/>
          </a:solidFill>
          <a:ln/>
        </p:spPr>
      </p:sp>
      <p:sp>
        <p:nvSpPr>
          <p:cNvPr id="5" name="Shape 3"/>
          <p:cNvSpPr/>
          <p:nvPr/>
        </p:nvSpPr>
        <p:spPr>
          <a:xfrm>
            <a:off x="8732520" y="2468880"/>
            <a:ext cx="1554480" cy="1554480"/>
          </a:xfrm>
          <a:prstGeom prst="ellipse">
            <a:avLst/>
          </a:prstGeom>
          <a:solidFill>
            <a:srgbClr val="1E2761"/>
          </a:solidFill>
          <a:ln/>
        </p:spPr>
      </p:sp>
      <p:pic>
        <p:nvPicPr>
          <p:cNvPr id="6" name="Image 0" descr="/home/claude/viva_ppt/icons/route.png"/>
          <p:cNvPicPr>
            <a:picLocks noChangeAspect="1"/>
          </p:cNvPicPr>
          <p:nvPr/>
        </p:nvPicPr>
        <p:blipFill>
          <a:blip r:embed="rId3"/>
          <a:stretch>
            <a:fillRect/>
          </a:stretch>
        </p:blipFill>
        <p:spPr>
          <a:xfrm>
            <a:off x="9136685" y="2873045"/>
            <a:ext cx="746150" cy="746150"/>
          </a:xfrm>
          <a:prstGeom prst="rect">
            <a:avLst/>
          </a:prstGeom>
        </p:spPr>
      </p:pic>
      <p:sp>
        <p:nvSpPr>
          <p:cNvPr id="7" name="Text 4"/>
          <p:cNvSpPr/>
          <p:nvPr/>
        </p:nvSpPr>
        <p:spPr>
          <a:xfrm>
            <a:off x="7635240" y="4526280"/>
            <a:ext cx="3749040" cy="1097280"/>
          </a:xfrm>
          <a:prstGeom prst="rect">
            <a:avLst/>
          </a:prstGeom>
          <a:noFill/>
          <a:ln/>
        </p:spPr>
        <p:txBody>
          <a:bodyPr wrap="square" rtlCol="0" anchor="t"/>
          <a:lstStyle/>
          <a:p>
            <a:pPr marL="0" indent="0" algn="ctr">
              <a:lnSpc>
                <a:spcPct val="120000"/>
              </a:lnSpc>
              <a:buNone/>
            </a:pPr>
            <a:r>
              <a:rPr lang="en-US" sz="1400" b="1" dirty="0">
                <a:solidFill>
                  <a:srgbClr val="1E2761"/>
                </a:solidFill>
                <a:latin typeface="Calibri" pitchFamily="34" charset="0"/>
                <a:ea typeface="Calibri" pitchFamily="34" charset="-122"/>
                <a:cs typeface="Calibri" pitchFamily="34" charset="-120"/>
              </a:rPr>
              <a:t>From memorised fact</a:t>
            </a:r>
            <a:endParaRPr lang="en-US" sz="1400" dirty="0"/>
          </a:p>
          <a:p>
            <a:pPr marL="0" indent="0" algn="ctr">
              <a:lnSpc>
                <a:spcPct val="120000"/>
              </a:lnSpc>
              <a:buNone/>
            </a:pPr>
            <a:r>
              <a:rPr lang="en-US" sz="1400" b="1" dirty="0">
                <a:solidFill>
                  <a:srgbClr val="1E2761"/>
                </a:solidFill>
                <a:latin typeface="Calibri" pitchFamily="34" charset="0"/>
                <a:ea typeface="Calibri" pitchFamily="34" charset="-122"/>
                <a:cs typeface="Calibri" pitchFamily="34" charset="-120"/>
              </a:rPr>
              <a:t>to observed behaviour</a:t>
            </a:r>
            <a:endParaRPr lang="en-US" sz="1400" dirty="0"/>
          </a:p>
        </p:txBody>
      </p:sp>
      <p:sp>
        <p:nvSpPr>
          <p:cNvPr id="8" name="Text 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640080" y="1783080"/>
            <a:ext cx="502920" cy="502920"/>
          </a:xfrm>
          <a:prstGeom prst="ellipse">
            <a:avLst/>
          </a:prstGeom>
          <a:solidFill>
            <a:srgbClr val="CADCFC"/>
          </a:solidFill>
          <a:ln/>
        </p:spPr>
      </p:sp>
      <p:pic>
        <p:nvPicPr>
          <p:cNvPr id="4" name="Image 0" descr="/home/claude/viva_ppt/icons/bullseye_navy.png"/>
          <p:cNvPicPr>
            <a:picLocks noChangeAspect="1"/>
          </p:cNvPicPr>
          <p:nvPr/>
        </p:nvPicPr>
        <p:blipFill>
          <a:blip r:embed="rId3"/>
          <a:stretch>
            <a:fillRect/>
          </a:stretch>
        </p:blipFill>
        <p:spPr>
          <a:xfrm>
            <a:off x="770839" y="1913839"/>
            <a:ext cx="241402" cy="241402"/>
          </a:xfrm>
          <a:prstGeom prst="rect">
            <a:avLst/>
          </a:prstGeom>
        </p:spPr>
      </p:pic>
      <p:sp>
        <p:nvSpPr>
          <p:cNvPr id="5" name="Text 2"/>
          <p:cNvSpPr/>
          <p:nvPr/>
        </p:nvSpPr>
        <p:spPr>
          <a:xfrm>
            <a:off x="1344168" y="1755648"/>
            <a:ext cx="1017727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Four Algorithms, Done Right</a:t>
            </a:r>
            <a:endParaRPr lang="en-US" sz="1500" dirty="0"/>
          </a:p>
        </p:txBody>
      </p:sp>
      <p:sp>
        <p:nvSpPr>
          <p:cNvPr id="6" name="Text 3"/>
          <p:cNvSpPr/>
          <p:nvPr/>
        </p:nvSpPr>
        <p:spPr>
          <a:xfrm>
            <a:off x="1344168" y="2039112"/>
            <a:ext cx="10177272" cy="45720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Implement BFS, DFS, Dijkstra, and A* correctly and efficiently over a 2D grid graph.</a:t>
            </a:r>
            <a:endParaRPr lang="en-US" sz="1250" dirty="0"/>
          </a:p>
        </p:txBody>
      </p:sp>
      <p:sp>
        <p:nvSpPr>
          <p:cNvPr id="7" name="Shape 4"/>
          <p:cNvSpPr/>
          <p:nvPr/>
        </p:nvSpPr>
        <p:spPr>
          <a:xfrm>
            <a:off x="640080" y="2679192"/>
            <a:ext cx="502920" cy="502920"/>
          </a:xfrm>
          <a:prstGeom prst="ellipse">
            <a:avLst/>
          </a:prstGeom>
          <a:solidFill>
            <a:srgbClr val="CADCFC"/>
          </a:solidFill>
          <a:ln/>
        </p:spPr>
      </p:sp>
      <p:pic>
        <p:nvPicPr>
          <p:cNvPr id="8" name="Image 1" descr="/home/claude/viva_ppt/icons/shuffle_navy.png"/>
          <p:cNvPicPr>
            <a:picLocks noChangeAspect="1"/>
          </p:cNvPicPr>
          <p:nvPr/>
        </p:nvPicPr>
        <p:blipFill>
          <a:blip r:embed="rId4"/>
          <a:stretch>
            <a:fillRect/>
          </a:stretch>
        </p:blipFill>
        <p:spPr>
          <a:xfrm>
            <a:off x="770839" y="2809951"/>
            <a:ext cx="241402" cy="241402"/>
          </a:xfrm>
          <a:prstGeom prst="rect">
            <a:avLst/>
          </a:prstGeom>
        </p:spPr>
      </p:pic>
      <p:sp>
        <p:nvSpPr>
          <p:cNvPr id="9" name="Text 5"/>
          <p:cNvSpPr/>
          <p:nvPr/>
        </p:nvSpPr>
        <p:spPr>
          <a:xfrm>
            <a:off x="1344168" y="2651760"/>
            <a:ext cx="1017727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Guaranteed-Solvable Mazes</a:t>
            </a:r>
            <a:endParaRPr lang="en-US" sz="1500" dirty="0"/>
          </a:p>
        </p:txBody>
      </p:sp>
      <p:sp>
        <p:nvSpPr>
          <p:cNvPr id="10" name="Text 6"/>
          <p:cNvSpPr/>
          <p:nvPr/>
        </p:nvSpPr>
        <p:spPr>
          <a:xfrm>
            <a:off x="1344168" y="2935224"/>
            <a:ext cx="10177272" cy="45720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Two randomized generation algorithms, each structurally guaranteed to produce a fully connected maze.</a:t>
            </a:r>
            <a:endParaRPr lang="en-US" sz="1250" dirty="0"/>
          </a:p>
        </p:txBody>
      </p:sp>
      <p:sp>
        <p:nvSpPr>
          <p:cNvPr id="11" name="Shape 7"/>
          <p:cNvSpPr/>
          <p:nvPr/>
        </p:nvSpPr>
        <p:spPr>
          <a:xfrm>
            <a:off x="640080" y="3575304"/>
            <a:ext cx="502920" cy="502920"/>
          </a:xfrm>
          <a:prstGeom prst="ellipse">
            <a:avLst/>
          </a:prstGeom>
          <a:solidFill>
            <a:srgbClr val="CADCFC"/>
          </a:solidFill>
          <a:ln/>
        </p:spPr>
      </p:sp>
      <p:pic>
        <p:nvPicPr>
          <p:cNvPr id="12" name="Image 2" descr="/home/claude/viva_ppt/icons/lightbulb_navy.png"/>
          <p:cNvPicPr>
            <a:picLocks noChangeAspect="1"/>
          </p:cNvPicPr>
          <p:nvPr/>
        </p:nvPicPr>
        <p:blipFill>
          <a:blip r:embed="rId5"/>
          <a:stretch>
            <a:fillRect/>
          </a:stretch>
        </p:blipFill>
        <p:spPr>
          <a:xfrm>
            <a:off x="770839" y="3706063"/>
            <a:ext cx="241402" cy="241402"/>
          </a:xfrm>
          <a:prstGeom prst="rect">
            <a:avLst/>
          </a:prstGeom>
        </p:spPr>
      </p:pic>
      <p:sp>
        <p:nvSpPr>
          <p:cNvPr id="13" name="Text 8"/>
          <p:cNvSpPr/>
          <p:nvPr/>
        </p:nvSpPr>
        <p:spPr>
          <a:xfrm>
            <a:off x="1344168" y="3547872"/>
            <a:ext cx="1017727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Animation From Real Control Flow</a:t>
            </a:r>
            <a:endParaRPr lang="en-US" sz="1500" dirty="0"/>
          </a:p>
        </p:txBody>
      </p:sp>
      <p:sp>
        <p:nvSpPr>
          <p:cNvPr id="14" name="Text 9"/>
          <p:cNvSpPr/>
          <p:nvPr/>
        </p:nvSpPr>
        <p:spPr>
          <a:xfrm>
            <a:off x="1344168" y="3831336"/>
            <a:ext cx="10177272" cy="45720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Every algorithm animates via its own step-by-step logic — not a separately authored replay.</a:t>
            </a:r>
            <a:endParaRPr lang="en-US" sz="1250" dirty="0"/>
          </a:p>
        </p:txBody>
      </p:sp>
      <p:sp>
        <p:nvSpPr>
          <p:cNvPr id="15" name="Shape 10"/>
          <p:cNvSpPr/>
          <p:nvPr/>
        </p:nvSpPr>
        <p:spPr>
          <a:xfrm>
            <a:off x="640080" y="4471416"/>
            <a:ext cx="502920" cy="502920"/>
          </a:xfrm>
          <a:prstGeom prst="ellipse">
            <a:avLst/>
          </a:prstGeom>
          <a:solidFill>
            <a:srgbClr val="CADCFC"/>
          </a:solidFill>
          <a:ln/>
        </p:spPr>
      </p:sp>
      <p:pic>
        <p:nvPicPr>
          <p:cNvPr id="16" name="Image 3" descr="/home/claude/viva_ppt/icons/chart_navy.png"/>
          <p:cNvPicPr>
            <a:picLocks noChangeAspect="1"/>
          </p:cNvPicPr>
          <p:nvPr/>
        </p:nvPicPr>
        <p:blipFill>
          <a:blip r:embed="rId6"/>
          <a:stretch>
            <a:fillRect/>
          </a:stretch>
        </p:blipFill>
        <p:spPr>
          <a:xfrm>
            <a:off x="770839" y="4602175"/>
            <a:ext cx="241402" cy="241402"/>
          </a:xfrm>
          <a:prstGeom prst="rect">
            <a:avLst/>
          </a:prstGeom>
        </p:spPr>
      </p:pic>
      <p:sp>
        <p:nvSpPr>
          <p:cNvPr id="17" name="Text 11"/>
          <p:cNvSpPr/>
          <p:nvPr/>
        </p:nvSpPr>
        <p:spPr>
          <a:xfrm>
            <a:off x="1344168" y="4443984"/>
            <a:ext cx="1017727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Live Side-by-Side Comparison</a:t>
            </a:r>
            <a:endParaRPr lang="en-US" sz="1500" dirty="0"/>
          </a:p>
        </p:txBody>
      </p:sp>
      <p:sp>
        <p:nvSpPr>
          <p:cNvPr id="18" name="Text 12"/>
          <p:cNvSpPr/>
          <p:nvPr/>
        </p:nvSpPr>
        <p:spPr>
          <a:xfrm>
            <a:off x="1344168" y="4727448"/>
            <a:ext cx="10177272" cy="45720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Two algorithms run on an identical grid, synced to one clock, so divergence is witnessed directly.</a:t>
            </a:r>
            <a:endParaRPr lang="en-US" sz="1250" dirty="0"/>
          </a:p>
        </p:txBody>
      </p:sp>
      <p:sp>
        <p:nvSpPr>
          <p:cNvPr id="19" name="Shape 13"/>
          <p:cNvSpPr/>
          <p:nvPr/>
        </p:nvSpPr>
        <p:spPr>
          <a:xfrm>
            <a:off x="640080" y="5367528"/>
            <a:ext cx="502920" cy="502920"/>
          </a:xfrm>
          <a:prstGeom prst="ellipse">
            <a:avLst/>
          </a:prstGeom>
          <a:solidFill>
            <a:srgbClr val="CADCFC"/>
          </a:solidFill>
          <a:ln/>
        </p:spPr>
      </p:sp>
      <p:pic>
        <p:nvPicPr>
          <p:cNvPr id="20" name="Image 4" descr="/home/claude/viva_ppt/icons/flask_navy.png"/>
          <p:cNvPicPr>
            <a:picLocks noChangeAspect="1"/>
          </p:cNvPicPr>
          <p:nvPr/>
        </p:nvPicPr>
        <p:blipFill>
          <a:blip r:embed="rId7"/>
          <a:stretch>
            <a:fillRect/>
          </a:stretch>
        </p:blipFill>
        <p:spPr>
          <a:xfrm>
            <a:off x="770839" y="5498287"/>
            <a:ext cx="241402" cy="241402"/>
          </a:xfrm>
          <a:prstGeom prst="rect">
            <a:avLst/>
          </a:prstGeom>
        </p:spPr>
      </p:pic>
      <p:sp>
        <p:nvSpPr>
          <p:cNvPr id="21" name="Text 14"/>
          <p:cNvSpPr/>
          <p:nvPr/>
        </p:nvSpPr>
        <p:spPr>
          <a:xfrm>
            <a:off x="1344168" y="5340096"/>
            <a:ext cx="1017727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Verified, Not Just Demonstrated</a:t>
            </a:r>
            <a:endParaRPr lang="en-US" sz="1500" dirty="0"/>
          </a:p>
        </p:txBody>
      </p:sp>
      <p:sp>
        <p:nvSpPr>
          <p:cNvPr id="22" name="Text 15"/>
          <p:cNvSpPr/>
          <p:nvPr/>
        </p:nvSpPr>
        <p:spPr>
          <a:xfrm>
            <a:off x="1344168" y="5623560"/>
            <a:ext cx="10177272" cy="45720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An automated test suite checks the correctness properties a course would expect to be formally proven.</a:t>
            </a:r>
            <a:endParaRPr lang="en-US" sz="1250" dirty="0"/>
          </a:p>
        </p:txBody>
      </p:sp>
      <p:sp>
        <p:nvSpPr>
          <p:cNvPr id="23" name="Text 16"/>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Scope</a:t>
            </a:r>
            <a:endParaRPr lang="en-US" sz="3000" dirty="0"/>
          </a:p>
        </p:txBody>
      </p:sp>
      <p:sp>
        <p:nvSpPr>
          <p:cNvPr id="3" name="Shape 1"/>
          <p:cNvSpPr/>
          <p:nvPr/>
        </p:nvSpPr>
        <p:spPr>
          <a:xfrm>
            <a:off x="640080" y="1783080"/>
            <a:ext cx="5303520" cy="4297680"/>
          </a:xfrm>
          <a:prstGeom prst="roundRect">
            <a:avLst>
              <a:gd name="adj" fmla="val 1702"/>
            </a:avLst>
          </a:prstGeom>
          <a:solidFill>
            <a:srgbClr val="F4F7FE"/>
          </a:solidFill>
          <a:ln/>
        </p:spPr>
      </p:sp>
      <p:sp>
        <p:nvSpPr>
          <p:cNvPr id="4" name="Shape 2"/>
          <p:cNvSpPr/>
          <p:nvPr/>
        </p:nvSpPr>
        <p:spPr>
          <a:xfrm>
            <a:off x="6245352" y="1783080"/>
            <a:ext cx="5303520" cy="4297680"/>
          </a:xfrm>
          <a:prstGeom prst="roundRect">
            <a:avLst>
              <a:gd name="adj" fmla="val 1702"/>
            </a:avLst>
          </a:prstGeom>
          <a:solidFill>
            <a:srgbClr val="FBEFF1"/>
          </a:solidFill>
          <a:ln/>
        </p:spPr>
      </p:sp>
      <p:sp>
        <p:nvSpPr>
          <p:cNvPr id="5" name="Text 3"/>
          <p:cNvSpPr/>
          <p:nvPr/>
        </p:nvSpPr>
        <p:spPr>
          <a:xfrm>
            <a:off x="914400" y="1965960"/>
            <a:ext cx="4754880" cy="41148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In Scope</a:t>
            </a:r>
            <a:endParaRPr lang="en-US" sz="1800" dirty="0"/>
          </a:p>
        </p:txBody>
      </p:sp>
      <p:sp>
        <p:nvSpPr>
          <p:cNvPr id="6" name="Text 4"/>
          <p:cNvSpPr/>
          <p:nvPr/>
        </p:nvSpPr>
        <p:spPr>
          <a:xfrm>
            <a:off x="6519672" y="1965960"/>
            <a:ext cx="4754880" cy="411480"/>
          </a:xfrm>
          <a:prstGeom prst="rect">
            <a:avLst/>
          </a:prstGeom>
          <a:noFill/>
          <a:ln/>
        </p:spPr>
        <p:txBody>
          <a:bodyPr wrap="square" rtlCol="0" anchor="ctr"/>
          <a:lstStyle/>
          <a:p>
            <a:pPr marL="0" indent="0">
              <a:buNone/>
            </a:pPr>
            <a:r>
              <a:rPr lang="en-US" sz="1800" b="1" dirty="0">
                <a:solidFill>
                  <a:srgbClr val="B0374D"/>
                </a:solidFill>
                <a:latin typeface="Cambria" pitchFamily="34" charset="0"/>
                <a:ea typeface="Cambria" pitchFamily="34" charset="-122"/>
                <a:cs typeface="Cambria" pitchFamily="34" charset="-120"/>
              </a:rPr>
              <a:t>Out of Scope</a:t>
            </a:r>
            <a:endParaRPr lang="en-US" sz="1800" dirty="0"/>
          </a:p>
        </p:txBody>
      </p:sp>
      <p:pic>
        <p:nvPicPr>
          <p:cNvPr id="7" name="Image 0" descr="/home/claude/viva_ppt/icons/check.png"/>
          <p:cNvPicPr>
            <a:picLocks noChangeAspect="1"/>
          </p:cNvPicPr>
          <p:nvPr/>
        </p:nvPicPr>
        <p:blipFill>
          <a:blip r:embed="rId3"/>
          <a:stretch>
            <a:fillRect/>
          </a:stretch>
        </p:blipFill>
        <p:spPr>
          <a:xfrm>
            <a:off x="914400" y="2514600"/>
            <a:ext cx="292608" cy="292608"/>
          </a:xfrm>
          <a:prstGeom prst="rect">
            <a:avLst/>
          </a:prstGeom>
        </p:spPr>
      </p:pic>
      <p:sp>
        <p:nvSpPr>
          <p:cNvPr id="8" name="Text 5"/>
          <p:cNvSpPr/>
          <p:nvPr/>
        </p:nvSpPr>
        <p:spPr>
          <a:xfrm>
            <a:off x="1298448" y="2468880"/>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Grid-based maze generation (2 algorithms)</a:t>
            </a:r>
            <a:endParaRPr lang="en-US" sz="1350" dirty="0"/>
          </a:p>
        </p:txBody>
      </p:sp>
      <p:pic>
        <p:nvPicPr>
          <p:cNvPr id="9" name="Image 1" descr="/home/claude/viva_ppt/icons/check.png"/>
          <p:cNvPicPr>
            <a:picLocks noChangeAspect="1"/>
          </p:cNvPicPr>
          <p:nvPr/>
        </p:nvPicPr>
        <p:blipFill>
          <a:blip r:embed="rId3"/>
          <a:stretch>
            <a:fillRect/>
          </a:stretch>
        </p:blipFill>
        <p:spPr>
          <a:xfrm>
            <a:off x="914400" y="3136392"/>
            <a:ext cx="292608" cy="292608"/>
          </a:xfrm>
          <a:prstGeom prst="rect">
            <a:avLst/>
          </a:prstGeom>
        </p:spPr>
      </p:pic>
      <p:sp>
        <p:nvSpPr>
          <p:cNvPr id="10" name="Text 6"/>
          <p:cNvSpPr/>
          <p:nvPr/>
        </p:nvSpPr>
        <p:spPr>
          <a:xfrm>
            <a:off x="1298448" y="3090672"/>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Manual wall drawing + draggable start/end</a:t>
            </a:r>
            <a:endParaRPr lang="en-US" sz="1350" dirty="0"/>
          </a:p>
        </p:txBody>
      </p:sp>
      <p:pic>
        <p:nvPicPr>
          <p:cNvPr id="11" name="Image 2" descr="/home/claude/viva_ppt/icons/check.png"/>
          <p:cNvPicPr>
            <a:picLocks noChangeAspect="1"/>
          </p:cNvPicPr>
          <p:nvPr/>
        </p:nvPicPr>
        <p:blipFill>
          <a:blip r:embed="rId3"/>
          <a:stretch>
            <a:fillRect/>
          </a:stretch>
        </p:blipFill>
        <p:spPr>
          <a:xfrm>
            <a:off x="914400" y="3758184"/>
            <a:ext cx="292608" cy="292608"/>
          </a:xfrm>
          <a:prstGeom prst="rect">
            <a:avLst/>
          </a:prstGeom>
        </p:spPr>
      </p:pic>
      <p:sp>
        <p:nvSpPr>
          <p:cNvPr id="12" name="Text 7"/>
          <p:cNvSpPr/>
          <p:nvPr/>
        </p:nvSpPr>
        <p:spPr>
          <a:xfrm>
            <a:off x="1298448" y="3712464"/>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4 animated pathfinding algorithms</a:t>
            </a:r>
            <a:endParaRPr lang="en-US" sz="1350" dirty="0"/>
          </a:p>
        </p:txBody>
      </p:sp>
      <p:pic>
        <p:nvPicPr>
          <p:cNvPr id="13" name="Image 3" descr="/home/claude/viva_ppt/icons/check.png"/>
          <p:cNvPicPr>
            <a:picLocks noChangeAspect="1"/>
          </p:cNvPicPr>
          <p:nvPr/>
        </p:nvPicPr>
        <p:blipFill>
          <a:blip r:embed="rId3"/>
          <a:stretch>
            <a:fillRect/>
          </a:stretch>
        </p:blipFill>
        <p:spPr>
          <a:xfrm>
            <a:off x="914400" y="4379976"/>
            <a:ext cx="292608" cy="292608"/>
          </a:xfrm>
          <a:prstGeom prst="rect">
            <a:avLst/>
          </a:prstGeom>
        </p:spPr>
      </p:pic>
      <p:sp>
        <p:nvSpPr>
          <p:cNvPr id="14" name="Text 8"/>
          <p:cNvSpPr/>
          <p:nvPr/>
        </p:nvSpPr>
        <p:spPr>
          <a:xfrm>
            <a:off x="1298448" y="4334256"/>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Side-by-side comparison mode</a:t>
            </a:r>
            <a:endParaRPr lang="en-US" sz="1350" dirty="0"/>
          </a:p>
        </p:txBody>
      </p:sp>
      <p:pic>
        <p:nvPicPr>
          <p:cNvPr id="15" name="Image 4" descr="/home/claude/viva_ppt/icons/check.png"/>
          <p:cNvPicPr>
            <a:picLocks noChangeAspect="1"/>
          </p:cNvPicPr>
          <p:nvPr/>
        </p:nvPicPr>
        <p:blipFill>
          <a:blip r:embed="rId3"/>
          <a:stretch>
            <a:fillRect/>
          </a:stretch>
        </p:blipFill>
        <p:spPr>
          <a:xfrm>
            <a:off x="914400" y="5001768"/>
            <a:ext cx="292608" cy="292608"/>
          </a:xfrm>
          <a:prstGeom prst="rect">
            <a:avLst/>
          </a:prstGeom>
        </p:spPr>
      </p:pic>
      <p:sp>
        <p:nvSpPr>
          <p:cNvPr id="16" name="Text 9"/>
          <p:cNvSpPr/>
          <p:nvPr/>
        </p:nvSpPr>
        <p:spPr>
          <a:xfrm>
            <a:off x="1298448" y="4956048"/>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Live stats + adjustable speed &amp; grid size</a:t>
            </a:r>
            <a:endParaRPr lang="en-US" sz="1350" dirty="0"/>
          </a:p>
        </p:txBody>
      </p:sp>
      <p:pic>
        <p:nvPicPr>
          <p:cNvPr id="17" name="Image 5" descr="/home/claude/viva_ppt/icons/times.png"/>
          <p:cNvPicPr>
            <a:picLocks noChangeAspect="1"/>
          </p:cNvPicPr>
          <p:nvPr/>
        </p:nvPicPr>
        <p:blipFill>
          <a:blip r:embed="rId4"/>
          <a:stretch>
            <a:fillRect/>
          </a:stretch>
        </p:blipFill>
        <p:spPr>
          <a:xfrm>
            <a:off x="6519672" y="2514600"/>
            <a:ext cx="292608" cy="292608"/>
          </a:xfrm>
          <a:prstGeom prst="rect">
            <a:avLst/>
          </a:prstGeom>
        </p:spPr>
      </p:pic>
      <p:sp>
        <p:nvSpPr>
          <p:cNvPr id="18" name="Text 10"/>
          <p:cNvSpPr/>
          <p:nvPr/>
        </p:nvSpPr>
        <p:spPr>
          <a:xfrm>
            <a:off x="6903720" y="2468880"/>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User accounts, backend server, persistence</a:t>
            </a:r>
            <a:endParaRPr lang="en-US" sz="1350" dirty="0"/>
          </a:p>
        </p:txBody>
      </p:sp>
      <p:pic>
        <p:nvPicPr>
          <p:cNvPr id="19" name="Image 6" descr="/home/claude/viva_ppt/icons/times.png"/>
          <p:cNvPicPr>
            <a:picLocks noChangeAspect="1"/>
          </p:cNvPicPr>
          <p:nvPr/>
        </p:nvPicPr>
        <p:blipFill>
          <a:blip r:embed="rId4"/>
          <a:stretch>
            <a:fillRect/>
          </a:stretch>
        </p:blipFill>
        <p:spPr>
          <a:xfrm>
            <a:off x="6519672" y="3136392"/>
            <a:ext cx="292608" cy="292608"/>
          </a:xfrm>
          <a:prstGeom prst="rect">
            <a:avLst/>
          </a:prstGeom>
        </p:spPr>
      </p:pic>
      <p:sp>
        <p:nvSpPr>
          <p:cNvPr id="20" name="Text 11"/>
          <p:cNvSpPr/>
          <p:nvPr/>
        </p:nvSpPr>
        <p:spPr>
          <a:xfrm>
            <a:off x="6903720" y="3090672"/>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3D or non-grid-based mazes</a:t>
            </a:r>
            <a:endParaRPr lang="en-US" sz="1350" dirty="0"/>
          </a:p>
        </p:txBody>
      </p:sp>
      <p:pic>
        <p:nvPicPr>
          <p:cNvPr id="21" name="Image 7" descr="/home/claude/viva_ppt/icons/times.png"/>
          <p:cNvPicPr>
            <a:picLocks noChangeAspect="1"/>
          </p:cNvPicPr>
          <p:nvPr/>
        </p:nvPicPr>
        <p:blipFill>
          <a:blip r:embed="rId4"/>
          <a:stretch>
            <a:fillRect/>
          </a:stretch>
        </p:blipFill>
        <p:spPr>
          <a:xfrm>
            <a:off x="6519672" y="3758184"/>
            <a:ext cx="292608" cy="292608"/>
          </a:xfrm>
          <a:prstGeom prst="rect">
            <a:avLst/>
          </a:prstGeom>
        </p:spPr>
      </p:pic>
      <p:sp>
        <p:nvSpPr>
          <p:cNvPr id="22" name="Text 12"/>
          <p:cNvSpPr/>
          <p:nvPr/>
        </p:nvSpPr>
        <p:spPr>
          <a:xfrm>
            <a:off x="6903720" y="3712464"/>
            <a:ext cx="448056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A dedicated native mobile app</a:t>
            </a:r>
            <a:endParaRPr lang="en-US" sz="1350" dirty="0"/>
          </a:p>
        </p:txBody>
      </p:sp>
      <p:sp>
        <p:nvSpPr>
          <p:cNvPr id="23" name="Text 13"/>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rtlCol="0" anchor="t"/>
          <a:lstStyle/>
          <a:p>
            <a:pPr marL="0" indent="0" algn="l">
              <a:buNone/>
            </a:pPr>
            <a:r>
              <a:rPr lang="en-US" sz="2800" b="1" dirty="0">
                <a:solidFill>
                  <a:srgbClr val="1E2761"/>
                </a:solidFill>
                <a:latin typeface="Cambria" pitchFamily="34" charset="0"/>
                <a:ea typeface="Cambria" pitchFamily="34" charset="-122"/>
                <a:cs typeface="Cambria" pitchFamily="34" charset="-120"/>
              </a:rPr>
              <a:t>System Architecture</a:t>
            </a:r>
            <a:endParaRPr lang="en-US" sz="2800" dirty="0"/>
          </a:p>
        </p:txBody>
      </p:sp>
      <p:sp>
        <p:nvSpPr>
          <p:cNvPr id="3" name="Text 1"/>
          <p:cNvSpPr/>
          <p:nvPr/>
        </p:nvSpPr>
        <p:spPr>
          <a:xfrm>
            <a:off x="548640" y="105156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Pure logic is fully isolated from the React presentation layer.</a:t>
            </a:r>
            <a:endParaRPr lang="en-US" sz="1350" dirty="0"/>
          </a:p>
        </p:txBody>
      </p:sp>
      <p:sp>
        <p:nvSpPr>
          <p:cNvPr id="4" name="Shape 2"/>
          <p:cNvSpPr/>
          <p:nvPr/>
        </p:nvSpPr>
        <p:spPr>
          <a:xfrm>
            <a:off x="4480560" y="1600200"/>
            <a:ext cx="3200400" cy="566928"/>
          </a:xfrm>
          <a:prstGeom prst="roundRect">
            <a:avLst>
              <a:gd name="adj" fmla="val 9677"/>
            </a:avLst>
          </a:prstGeom>
          <a:solidFill>
            <a:srgbClr val="1E2761"/>
          </a:solidFill>
          <a:ln/>
        </p:spPr>
      </p:sp>
      <p:sp>
        <p:nvSpPr>
          <p:cNvPr id="5" name="Text 3"/>
          <p:cNvSpPr/>
          <p:nvPr/>
        </p:nvSpPr>
        <p:spPr>
          <a:xfrm>
            <a:off x="4480560" y="1600200"/>
            <a:ext cx="3200400" cy="56692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App.tsx</a:t>
            </a:r>
            <a:endParaRPr lang="en-US" sz="1400" dirty="0"/>
          </a:p>
        </p:txBody>
      </p:sp>
      <p:sp>
        <p:nvSpPr>
          <p:cNvPr id="6" name="Shape 4"/>
          <p:cNvSpPr/>
          <p:nvPr/>
        </p:nvSpPr>
        <p:spPr>
          <a:xfrm>
            <a:off x="813816" y="2514600"/>
            <a:ext cx="2468880" cy="777240"/>
          </a:xfrm>
          <a:prstGeom prst="roundRect">
            <a:avLst>
              <a:gd name="adj" fmla="val 7059"/>
            </a:avLst>
          </a:prstGeom>
          <a:solidFill>
            <a:srgbClr val="CADCFC"/>
          </a:solidFill>
          <a:ln/>
        </p:spPr>
      </p:sp>
      <p:sp>
        <p:nvSpPr>
          <p:cNvPr id="7" name="Text 5"/>
          <p:cNvSpPr/>
          <p:nvPr/>
        </p:nvSpPr>
        <p:spPr>
          <a:xfrm>
            <a:off x="813816" y="2514600"/>
            <a:ext cx="2468880" cy="777240"/>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Grid</a:t>
            </a:r>
            <a:endParaRPr lang="en-US" sz="1250" dirty="0"/>
          </a:p>
          <a:p>
            <a:pPr marL="0" indent="0" algn="ctr">
              <a:buNone/>
            </a:pPr>
            <a:r>
              <a:rPr lang="en-US" sz="1250" b="1" dirty="0">
                <a:solidFill>
                  <a:srgbClr val="1E2761"/>
                </a:solidFill>
                <a:latin typeface="Calibri" pitchFamily="34" charset="0"/>
                <a:ea typeface="Calibri" pitchFamily="34" charset="-122"/>
                <a:cs typeface="Calibri" pitchFamily="34" charset="-120"/>
              </a:rPr>
              <a:t>Instrument</a:t>
            </a:r>
            <a:endParaRPr lang="en-US" sz="1250" dirty="0"/>
          </a:p>
        </p:txBody>
      </p:sp>
      <p:sp>
        <p:nvSpPr>
          <p:cNvPr id="8" name="Shape 6"/>
          <p:cNvSpPr/>
          <p:nvPr/>
        </p:nvSpPr>
        <p:spPr>
          <a:xfrm>
            <a:off x="2048256" y="2167128"/>
            <a:ext cx="0" cy="347472"/>
          </a:xfrm>
          <a:prstGeom prst="line">
            <a:avLst/>
          </a:prstGeom>
          <a:noFill/>
          <a:ln w="19050">
            <a:solidFill>
              <a:srgbClr val="B7C4E8"/>
            </a:solidFill>
            <a:prstDash val="solid"/>
          </a:ln>
        </p:spPr>
      </p:sp>
      <p:sp>
        <p:nvSpPr>
          <p:cNvPr id="9" name="Shape 7"/>
          <p:cNvSpPr/>
          <p:nvPr/>
        </p:nvSpPr>
        <p:spPr>
          <a:xfrm>
            <a:off x="3511296" y="2514600"/>
            <a:ext cx="2468880" cy="777240"/>
          </a:xfrm>
          <a:prstGeom prst="roundRect">
            <a:avLst>
              <a:gd name="adj" fmla="val 7059"/>
            </a:avLst>
          </a:prstGeom>
          <a:solidFill>
            <a:srgbClr val="CADCFC"/>
          </a:solidFill>
          <a:ln/>
        </p:spPr>
      </p:sp>
      <p:sp>
        <p:nvSpPr>
          <p:cNvPr id="10" name="Text 8"/>
          <p:cNvSpPr/>
          <p:nvPr/>
        </p:nvSpPr>
        <p:spPr>
          <a:xfrm>
            <a:off x="3511296" y="2514600"/>
            <a:ext cx="2468880" cy="777240"/>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Control</a:t>
            </a:r>
            <a:endParaRPr lang="en-US" sz="1250" dirty="0"/>
          </a:p>
          <a:p>
            <a:pPr marL="0" indent="0" algn="ctr">
              <a:buNone/>
            </a:pPr>
            <a:r>
              <a:rPr lang="en-US" sz="1250" b="1" dirty="0">
                <a:solidFill>
                  <a:srgbClr val="1E2761"/>
                </a:solidFill>
                <a:latin typeface="Calibri" pitchFamily="34" charset="0"/>
                <a:ea typeface="Calibri" pitchFamily="34" charset="-122"/>
                <a:cs typeface="Calibri" pitchFamily="34" charset="-120"/>
              </a:rPr>
              <a:t>Panel</a:t>
            </a:r>
            <a:endParaRPr lang="en-US" sz="1250" dirty="0"/>
          </a:p>
        </p:txBody>
      </p:sp>
      <p:sp>
        <p:nvSpPr>
          <p:cNvPr id="11" name="Shape 9"/>
          <p:cNvSpPr/>
          <p:nvPr/>
        </p:nvSpPr>
        <p:spPr>
          <a:xfrm>
            <a:off x="4745736" y="2167128"/>
            <a:ext cx="0" cy="347472"/>
          </a:xfrm>
          <a:prstGeom prst="line">
            <a:avLst/>
          </a:prstGeom>
          <a:noFill/>
          <a:ln w="19050">
            <a:solidFill>
              <a:srgbClr val="B7C4E8"/>
            </a:solidFill>
            <a:prstDash val="solid"/>
          </a:ln>
        </p:spPr>
      </p:sp>
      <p:sp>
        <p:nvSpPr>
          <p:cNvPr id="12" name="Shape 10"/>
          <p:cNvSpPr/>
          <p:nvPr/>
        </p:nvSpPr>
        <p:spPr>
          <a:xfrm>
            <a:off x="6208776" y="2514600"/>
            <a:ext cx="2468880" cy="777240"/>
          </a:xfrm>
          <a:prstGeom prst="roundRect">
            <a:avLst>
              <a:gd name="adj" fmla="val 7059"/>
            </a:avLst>
          </a:prstGeom>
          <a:solidFill>
            <a:srgbClr val="CADCFC"/>
          </a:solidFill>
          <a:ln/>
        </p:spPr>
      </p:sp>
      <p:sp>
        <p:nvSpPr>
          <p:cNvPr id="13" name="Text 11"/>
          <p:cNvSpPr/>
          <p:nvPr/>
        </p:nvSpPr>
        <p:spPr>
          <a:xfrm>
            <a:off x="6208776" y="2514600"/>
            <a:ext cx="2468880" cy="777240"/>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Stats</a:t>
            </a:r>
            <a:endParaRPr lang="en-US" sz="1250" dirty="0"/>
          </a:p>
          <a:p>
            <a:pPr marL="0" indent="0" algn="ctr">
              <a:buNone/>
            </a:pPr>
            <a:r>
              <a:rPr lang="en-US" sz="1250" b="1" dirty="0">
                <a:solidFill>
                  <a:srgbClr val="1E2761"/>
                </a:solidFill>
                <a:latin typeface="Calibri" pitchFamily="34" charset="0"/>
                <a:ea typeface="Calibri" pitchFamily="34" charset="-122"/>
                <a:cs typeface="Calibri" pitchFamily="34" charset="-120"/>
              </a:rPr>
              <a:t>Panel</a:t>
            </a:r>
            <a:endParaRPr lang="en-US" sz="1250" dirty="0"/>
          </a:p>
        </p:txBody>
      </p:sp>
      <p:sp>
        <p:nvSpPr>
          <p:cNvPr id="14" name="Shape 12"/>
          <p:cNvSpPr/>
          <p:nvPr/>
        </p:nvSpPr>
        <p:spPr>
          <a:xfrm>
            <a:off x="7443216" y="2167128"/>
            <a:ext cx="0" cy="347472"/>
          </a:xfrm>
          <a:prstGeom prst="line">
            <a:avLst/>
          </a:prstGeom>
          <a:noFill/>
          <a:ln w="19050">
            <a:solidFill>
              <a:srgbClr val="B7C4E8"/>
            </a:solidFill>
            <a:prstDash val="solid"/>
          </a:ln>
        </p:spPr>
      </p:sp>
      <p:sp>
        <p:nvSpPr>
          <p:cNvPr id="15" name="Shape 13"/>
          <p:cNvSpPr/>
          <p:nvPr/>
        </p:nvSpPr>
        <p:spPr>
          <a:xfrm>
            <a:off x="8906256" y="2514600"/>
            <a:ext cx="2468880" cy="777240"/>
          </a:xfrm>
          <a:prstGeom prst="roundRect">
            <a:avLst>
              <a:gd name="adj" fmla="val 7059"/>
            </a:avLst>
          </a:prstGeom>
          <a:solidFill>
            <a:srgbClr val="CADCFC"/>
          </a:solidFill>
          <a:ln/>
        </p:spPr>
      </p:sp>
      <p:sp>
        <p:nvSpPr>
          <p:cNvPr id="16" name="Text 14"/>
          <p:cNvSpPr/>
          <p:nvPr/>
        </p:nvSpPr>
        <p:spPr>
          <a:xfrm>
            <a:off x="8906256" y="2514600"/>
            <a:ext cx="2468880" cy="777240"/>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Comparison</a:t>
            </a:r>
            <a:endParaRPr lang="en-US" sz="1250" dirty="0"/>
          </a:p>
          <a:p>
            <a:pPr marL="0" indent="0" algn="ctr">
              <a:buNone/>
            </a:pPr>
            <a:r>
              <a:rPr lang="en-US" sz="1250" b="1" dirty="0">
                <a:solidFill>
                  <a:srgbClr val="1E2761"/>
                </a:solidFill>
                <a:latin typeface="Calibri" pitchFamily="34" charset="0"/>
                <a:ea typeface="Calibri" pitchFamily="34" charset="-122"/>
                <a:cs typeface="Calibri" pitchFamily="34" charset="-120"/>
              </a:rPr>
              <a:t>View</a:t>
            </a:r>
            <a:endParaRPr lang="en-US" sz="1250" dirty="0"/>
          </a:p>
        </p:txBody>
      </p:sp>
      <p:sp>
        <p:nvSpPr>
          <p:cNvPr id="17" name="Shape 15"/>
          <p:cNvSpPr/>
          <p:nvPr/>
        </p:nvSpPr>
        <p:spPr>
          <a:xfrm>
            <a:off x="10140696" y="2167128"/>
            <a:ext cx="0" cy="347472"/>
          </a:xfrm>
          <a:prstGeom prst="line">
            <a:avLst/>
          </a:prstGeom>
          <a:noFill/>
          <a:ln w="19050">
            <a:solidFill>
              <a:srgbClr val="B7C4E8"/>
            </a:solidFill>
            <a:prstDash val="solid"/>
          </a:ln>
        </p:spPr>
      </p:sp>
      <p:sp>
        <p:nvSpPr>
          <p:cNvPr id="18" name="Shape 16"/>
          <p:cNvSpPr/>
          <p:nvPr/>
        </p:nvSpPr>
        <p:spPr>
          <a:xfrm>
            <a:off x="2651760" y="3703320"/>
            <a:ext cx="6858000" cy="548640"/>
          </a:xfrm>
          <a:prstGeom prst="roundRect">
            <a:avLst>
              <a:gd name="adj" fmla="val 10000"/>
            </a:avLst>
          </a:prstGeom>
          <a:solidFill>
            <a:srgbClr val="2EC4B6"/>
          </a:solidFill>
          <a:ln/>
        </p:spPr>
      </p:sp>
      <p:sp>
        <p:nvSpPr>
          <p:cNvPr id="19" name="Text 17"/>
          <p:cNvSpPr/>
          <p:nvPr/>
        </p:nvSpPr>
        <p:spPr>
          <a:xfrm>
            <a:off x="2651760" y="3703320"/>
            <a:ext cx="6858000" cy="548640"/>
          </a:xfrm>
          <a:prstGeom prst="rect">
            <a:avLst/>
          </a:prstGeom>
          <a:noFill/>
          <a:ln/>
        </p:spPr>
        <p:txBody>
          <a:bodyPr wrap="square" rtlCol="0" anchor="ctr"/>
          <a:lstStyle/>
          <a:p>
            <a:pPr marL="0" indent="0" algn="ctr">
              <a:buNone/>
            </a:pPr>
            <a:r>
              <a:rPr lang="en-US" sz="1250" b="1" dirty="0">
                <a:solidFill>
                  <a:srgbClr val="141B4D"/>
                </a:solidFill>
                <a:latin typeface="Calibri" pitchFamily="34" charset="0"/>
                <a:ea typeface="Calibri" pitchFamily="34" charset="-122"/>
                <a:cs typeface="Calibri" pitchFamily="34" charset="-120"/>
              </a:rPr>
              <a:t>hooks/  —  useGridEditor · useSolver · useMazeGenerator</a:t>
            </a:r>
            <a:endParaRPr lang="en-US" sz="1250" dirty="0"/>
          </a:p>
        </p:txBody>
      </p:sp>
      <p:sp>
        <p:nvSpPr>
          <p:cNvPr id="20" name="Shape 18"/>
          <p:cNvSpPr/>
          <p:nvPr/>
        </p:nvSpPr>
        <p:spPr>
          <a:xfrm>
            <a:off x="6080760" y="3291840"/>
            <a:ext cx="0" cy="411480"/>
          </a:xfrm>
          <a:prstGeom prst="line">
            <a:avLst/>
          </a:prstGeom>
          <a:noFill/>
          <a:ln w="19050">
            <a:solidFill>
              <a:srgbClr val="B7C4E8"/>
            </a:solidFill>
            <a:prstDash val="solid"/>
          </a:ln>
        </p:spPr>
      </p:sp>
      <p:sp>
        <p:nvSpPr>
          <p:cNvPr id="21" name="Shape 19"/>
          <p:cNvSpPr/>
          <p:nvPr/>
        </p:nvSpPr>
        <p:spPr>
          <a:xfrm>
            <a:off x="470916" y="4709160"/>
            <a:ext cx="3566160" cy="960120"/>
          </a:xfrm>
          <a:prstGeom prst="roundRect">
            <a:avLst>
              <a:gd name="adj" fmla="val 5714"/>
            </a:avLst>
          </a:prstGeom>
          <a:solidFill>
            <a:srgbClr val="F4F7FE"/>
          </a:solidFill>
          <a:ln w="12700">
            <a:solidFill>
              <a:srgbClr val="CADCFC"/>
            </a:solidFill>
            <a:prstDash val="solid"/>
          </a:ln>
        </p:spPr>
      </p:sp>
      <p:sp>
        <p:nvSpPr>
          <p:cNvPr id="22" name="Text 20"/>
          <p:cNvSpPr/>
          <p:nvPr/>
        </p:nvSpPr>
        <p:spPr>
          <a:xfrm>
            <a:off x="653796" y="4800600"/>
            <a:ext cx="3200400" cy="292608"/>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lib/grid/</a:t>
            </a:r>
            <a:endParaRPr lang="en-US" sz="1300" dirty="0"/>
          </a:p>
        </p:txBody>
      </p:sp>
      <p:sp>
        <p:nvSpPr>
          <p:cNvPr id="23" name="Text 21"/>
          <p:cNvSpPr/>
          <p:nvPr/>
        </p:nvSpPr>
        <p:spPr>
          <a:xfrm>
            <a:off x="653796" y="5084064"/>
            <a:ext cx="3200400" cy="502920"/>
          </a:xfrm>
          <a:prstGeom prst="rect">
            <a:avLst/>
          </a:prstGeom>
          <a:noFill/>
          <a:ln/>
        </p:spPr>
        <p:txBody>
          <a:bodyPr wrap="square" rtlCol="0" anchor="ctr"/>
          <a:lstStyle/>
          <a:p>
            <a:pPr marL="0" indent="0">
              <a:lnSpc>
                <a:spcPct val="110000"/>
              </a:lnSpc>
              <a:buNone/>
            </a:pPr>
            <a:r>
              <a:rPr lang="en-US" sz="1050" dirty="0">
                <a:solidFill>
                  <a:srgbClr val="1B1F3B"/>
                </a:solidFill>
                <a:latin typeface="Calibri" pitchFamily="34" charset="0"/>
                <a:ea typeface="Calibri" pitchFamily="34" charset="-122"/>
                <a:cs typeface="Calibri" pitchFamily="34" charset="-120"/>
              </a:rPr>
              <a:t>Grid, neighbor logic, immutable edits</a:t>
            </a:r>
            <a:endParaRPr lang="en-US" sz="1050" dirty="0"/>
          </a:p>
        </p:txBody>
      </p:sp>
      <p:sp>
        <p:nvSpPr>
          <p:cNvPr id="24" name="Shape 22"/>
          <p:cNvSpPr/>
          <p:nvPr/>
        </p:nvSpPr>
        <p:spPr>
          <a:xfrm>
            <a:off x="2253996" y="4251960"/>
            <a:ext cx="0" cy="457200"/>
          </a:xfrm>
          <a:prstGeom prst="line">
            <a:avLst/>
          </a:prstGeom>
          <a:noFill/>
          <a:ln w="19050">
            <a:solidFill>
              <a:srgbClr val="B7C4E8"/>
            </a:solidFill>
            <a:prstDash val="solid"/>
          </a:ln>
        </p:spPr>
      </p:sp>
      <p:sp>
        <p:nvSpPr>
          <p:cNvPr id="25" name="Shape 23"/>
          <p:cNvSpPr/>
          <p:nvPr/>
        </p:nvSpPr>
        <p:spPr>
          <a:xfrm>
            <a:off x="4311396" y="4709160"/>
            <a:ext cx="3566160" cy="960120"/>
          </a:xfrm>
          <a:prstGeom prst="roundRect">
            <a:avLst>
              <a:gd name="adj" fmla="val 5714"/>
            </a:avLst>
          </a:prstGeom>
          <a:solidFill>
            <a:srgbClr val="F4F7FE"/>
          </a:solidFill>
          <a:ln w="12700">
            <a:solidFill>
              <a:srgbClr val="CADCFC"/>
            </a:solidFill>
            <a:prstDash val="solid"/>
          </a:ln>
        </p:spPr>
      </p:sp>
      <p:sp>
        <p:nvSpPr>
          <p:cNvPr id="26" name="Text 24"/>
          <p:cNvSpPr/>
          <p:nvPr/>
        </p:nvSpPr>
        <p:spPr>
          <a:xfrm>
            <a:off x="4494276" y="4800600"/>
            <a:ext cx="3200400" cy="292608"/>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lib/algorithms/</a:t>
            </a:r>
            <a:endParaRPr lang="en-US" sz="1300" dirty="0"/>
          </a:p>
        </p:txBody>
      </p:sp>
      <p:sp>
        <p:nvSpPr>
          <p:cNvPr id="27" name="Text 25"/>
          <p:cNvSpPr/>
          <p:nvPr/>
        </p:nvSpPr>
        <p:spPr>
          <a:xfrm>
            <a:off x="4494276" y="5084064"/>
            <a:ext cx="3200400" cy="502920"/>
          </a:xfrm>
          <a:prstGeom prst="rect">
            <a:avLst/>
          </a:prstGeom>
          <a:noFill/>
          <a:ln/>
        </p:spPr>
        <p:txBody>
          <a:bodyPr wrap="square" rtlCol="0" anchor="ctr"/>
          <a:lstStyle/>
          <a:p>
            <a:pPr marL="0" indent="0">
              <a:lnSpc>
                <a:spcPct val="110000"/>
              </a:lnSpc>
              <a:buNone/>
            </a:pPr>
            <a:r>
              <a:rPr lang="en-US" sz="1050" dirty="0">
                <a:solidFill>
                  <a:srgbClr val="1B1F3B"/>
                </a:solidFill>
                <a:latin typeface="Calibri" pitchFamily="34" charset="0"/>
                <a:ea typeface="Calibri" pitchFamily="34" charset="-122"/>
                <a:cs typeface="Calibri" pitchFamily="34" charset="-120"/>
              </a:rPr>
              <a:t>BFS, DFS, Dijkstra, A* (generator fns)</a:t>
            </a:r>
            <a:endParaRPr lang="en-US" sz="1050" dirty="0"/>
          </a:p>
        </p:txBody>
      </p:sp>
      <p:sp>
        <p:nvSpPr>
          <p:cNvPr id="28" name="Shape 26"/>
          <p:cNvSpPr/>
          <p:nvPr/>
        </p:nvSpPr>
        <p:spPr>
          <a:xfrm>
            <a:off x="6094476" y="4251960"/>
            <a:ext cx="0" cy="457200"/>
          </a:xfrm>
          <a:prstGeom prst="line">
            <a:avLst/>
          </a:prstGeom>
          <a:noFill/>
          <a:ln w="19050">
            <a:solidFill>
              <a:srgbClr val="B7C4E8"/>
            </a:solidFill>
            <a:prstDash val="solid"/>
          </a:ln>
        </p:spPr>
      </p:sp>
      <p:sp>
        <p:nvSpPr>
          <p:cNvPr id="29" name="Shape 27"/>
          <p:cNvSpPr/>
          <p:nvPr/>
        </p:nvSpPr>
        <p:spPr>
          <a:xfrm>
            <a:off x="8151876" y="4709160"/>
            <a:ext cx="3566160" cy="960120"/>
          </a:xfrm>
          <a:prstGeom prst="roundRect">
            <a:avLst>
              <a:gd name="adj" fmla="val 5714"/>
            </a:avLst>
          </a:prstGeom>
          <a:solidFill>
            <a:srgbClr val="F4F7FE"/>
          </a:solidFill>
          <a:ln w="12700">
            <a:solidFill>
              <a:srgbClr val="CADCFC"/>
            </a:solidFill>
            <a:prstDash val="solid"/>
          </a:ln>
        </p:spPr>
      </p:sp>
      <p:sp>
        <p:nvSpPr>
          <p:cNvPr id="30" name="Text 28"/>
          <p:cNvSpPr/>
          <p:nvPr/>
        </p:nvSpPr>
        <p:spPr>
          <a:xfrm>
            <a:off x="8334756" y="4800600"/>
            <a:ext cx="3200400" cy="292608"/>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lib/mazeGen/</a:t>
            </a:r>
            <a:endParaRPr lang="en-US" sz="1300" dirty="0"/>
          </a:p>
        </p:txBody>
      </p:sp>
      <p:sp>
        <p:nvSpPr>
          <p:cNvPr id="31" name="Text 29"/>
          <p:cNvSpPr/>
          <p:nvPr/>
        </p:nvSpPr>
        <p:spPr>
          <a:xfrm>
            <a:off x="8334756" y="5084064"/>
            <a:ext cx="3200400" cy="502920"/>
          </a:xfrm>
          <a:prstGeom prst="rect">
            <a:avLst/>
          </a:prstGeom>
          <a:noFill/>
          <a:ln/>
        </p:spPr>
        <p:txBody>
          <a:bodyPr wrap="square" rtlCol="0" anchor="ctr"/>
          <a:lstStyle/>
          <a:p>
            <a:pPr marL="0" indent="0">
              <a:lnSpc>
                <a:spcPct val="110000"/>
              </a:lnSpc>
              <a:buNone/>
            </a:pPr>
            <a:r>
              <a:rPr lang="en-US" sz="1050" dirty="0">
                <a:solidFill>
                  <a:srgbClr val="1B1F3B"/>
                </a:solidFill>
                <a:latin typeface="Calibri" pitchFamily="34" charset="0"/>
                <a:ea typeface="Calibri" pitchFamily="34" charset="-122"/>
                <a:cs typeface="Calibri" pitchFamily="34" charset="-120"/>
              </a:rPr>
              <a:t>Randomized DFS, Randomized Prim's</a:t>
            </a:r>
            <a:endParaRPr lang="en-US" sz="1050" dirty="0"/>
          </a:p>
        </p:txBody>
      </p:sp>
      <p:sp>
        <p:nvSpPr>
          <p:cNvPr id="32" name="Shape 30"/>
          <p:cNvSpPr/>
          <p:nvPr/>
        </p:nvSpPr>
        <p:spPr>
          <a:xfrm>
            <a:off x="9934956" y="4251960"/>
            <a:ext cx="0" cy="457200"/>
          </a:xfrm>
          <a:prstGeom prst="line">
            <a:avLst/>
          </a:prstGeom>
          <a:noFill/>
          <a:ln w="19050">
            <a:solidFill>
              <a:srgbClr val="B7C4E8"/>
            </a:solidFill>
            <a:prstDash val="solid"/>
          </a:ln>
        </p:spPr>
      </p:sp>
      <p:sp>
        <p:nvSpPr>
          <p:cNvPr id="33" name="Text 31"/>
          <p:cNvSpPr/>
          <p:nvPr/>
        </p:nvSpPr>
        <p:spPr>
          <a:xfrm>
            <a:off x="548640" y="5897880"/>
            <a:ext cx="11064240" cy="365760"/>
          </a:xfrm>
          <a:prstGeom prst="rect">
            <a:avLst/>
          </a:prstGeom>
          <a:noFill/>
          <a:ln/>
        </p:spPr>
        <p:txBody>
          <a:bodyPr wrap="square" rtlCol="0" anchor="ctr"/>
          <a:lstStyle/>
          <a:p>
            <a:pPr marL="0" indent="0" algn="ctr">
              <a:buNone/>
            </a:pPr>
            <a:r>
              <a:rPr lang="en-US" sz="1200" i="1" dirty="0">
                <a:solidFill>
                  <a:srgbClr val="5B6280"/>
                </a:solidFill>
                <a:latin typeface="Calibri" pitchFamily="34" charset="0"/>
                <a:ea typeface="Calibri" pitchFamily="34" charset="-122"/>
                <a:cs typeface="Calibri" pitchFamily="34" charset="-120"/>
              </a:rPr>
              <a:t>Zero React imports in any of the three lib/ modules — each is independently unit-testable.</a:t>
            </a:r>
            <a:endParaRPr lang="en-US" sz="1200" dirty="0"/>
          </a:p>
        </p:txBody>
      </p:sp>
      <p:sp>
        <p:nvSpPr>
          <p:cNvPr id="34" name="Text 32"/>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Technology Stack</a:t>
            </a:r>
            <a:endParaRPr lang="en-US" sz="3000" dirty="0"/>
          </a:p>
        </p:txBody>
      </p:sp>
      <p:sp>
        <p:nvSpPr>
          <p:cNvPr id="3" name="Shape 1"/>
          <p:cNvSpPr/>
          <p:nvPr/>
        </p:nvSpPr>
        <p:spPr>
          <a:xfrm>
            <a:off x="557784" y="1874520"/>
            <a:ext cx="3520440" cy="1600200"/>
          </a:xfrm>
          <a:prstGeom prst="roundRect">
            <a:avLst>
              <a:gd name="adj" fmla="val 4000"/>
            </a:avLst>
          </a:prstGeom>
          <a:solidFill>
            <a:srgbClr val="F4F7FE"/>
          </a:solidFill>
          <a:ln/>
        </p:spPr>
      </p:sp>
      <p:sp>
        <p:nvSpPr>
          <p:cNvPr id="4" name="Shape 2"/>
          <p:cNvSpPr/>
          <p:nvPr/>
        </p:nvSpPr>
        <p:spPr>
          <a:xfrm>
            <a:off x="841248" y="2093976"/>
            <a:ext cx="566928" cy="566928"/>
          </a:xfrm>
          <a:prstGeom prst="ellipse">
            <a:avLst/>
          </a:prstGeom>
          <a:solidFill>
            <a:srgbClr val="CADCFC"/>
          </a:solidFill>
          <a:ln/>
        </p:spPr>
      </p:sp>
      <p:pic>
        <p:nvPicPr>
          <p:cNvPr id="5" name="Image 0" descr="/home/claude/viva_ppt/icons/code_navy.png"/>
          <p:cNvPicPr>
            <a:picLocks noChangeAspect="1"/>
          </p:cNvPicPr>
          <p:nvPr/>
        </p:nvPicPr>
        <p:blipFill>
          <a:blip r:embed="rId3"/>
          <a:stretch>
            <a:fillRect/>
          </a:stretch>
        </p:blipFill>
        <p:spPr>
          <a:xfrm>
            <a:off x="988649" y="2241377"/>
            <a:ext cx="272125" cy="272125"/>
          </a:xfrm>
          <a:prstGeom prst="rect">
            <a:avLst/>
          </a:prstGeom>
        </p:spPr>
      </p:pic>
      <p:sp>
        <p:nvSpPr>
          <p:cNvPr id="6" name="Text 3"/>
          <p:cNvSpPr/>
          <p:nvPr/>
        </p:nvSpPr>
        <p:spPr>
          <a:xfrm>
            <a:off x="832104" y="271576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React 19 + TypeScript</a:t>
            </a:r>
            <a:endParaRPr lang="en-US" sz="1350" dirty="0"/>
          </a:p>
        </p:txBody>
      </p:sp>
      <p:sp>
        <p:nvSpPr>
          <p:cNvPr id="7" name="Text 4"/>
          <p:cNvSpPr/>
          <p:nvPr/>
        </p:nvSpPr>
        <p:spPr>
          <a:xfrm>
            <a:off x="786384" y="304495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Fast, industry-standard build tooling (Vite)</a:t>
            </a:r>
            <a:endParaRPr lang="en-US" sz="1050" dirty="0"/>
          </a:p>
        </p:txBody>
      </p:sp>
      <p:sp>
        <p:nvSpPr>
          <p:cNvPr id="8" name="Shape 5"/>
          <p:cNvSpPr/>
          <p:nvPr/>
        </p:nvSpPr>
        <p:spPr>
          <a:xfrm>
            <a:off x="4334256" y="1874520"/>
            <a:ext cx="3520440" cy="1600200"/>
          </a:xfrm>
          <a:prstGeom prst="roundRect">
            <a:avLst>
              <a:gd name="adj" fmla="val 4000"/>
            </a:avLst>
          </a:prstGeom>
          <a:solidFill>
            <a:srgbClr val="F4F7FE"/>
          </a:solidFill>
          <a:ln/>
        </p:spPr>
      </p:sp>
      <p:sp>
        <p:nvSpPr>
          <p:cNvPr id="9" name="Shape 6"/>
          <p:cNvSpPr/>
          <p:nvPr/>
        </p:nvSpPr>
        <p:spPr>
          <a:xfrm>
            <a:off x="4617720" y="2093976"/>
            <a:ext cx="566928" cy="566928"/>
          </a:xfrm>
          <a:prstGeom prst="ellipse">
            <a:avLst/>
          </a:prstGeom>
          <a:solidFill>
            <a:srgbClr val="CADCFC"/>
          </a:solidFill>
          <a:ln/>
        </p:spPr>
      </p:sp>
      <p:pic>
        <p:nvPicPr>
          <p:cNvPr id="10" name="Image 1" descr="/home/claude/viva_ppt/icons/th_navy.png"/>
          <p:cNvPicPr>
            <a:picLocks noChangeAspect="1"/>
          </p:cNvPicPr>
          <p:nvPr/>
        </p:nvPicPr>
        <p:blipFill>
          <a:blip r:embed="rId4"/>
          <a:stretch>
            <a:fillRect/>
          </a:stretch>
        </p:blipFill>
        <p:spPr>
          <a:xfrm>
            <a:off x="4765121" y="2241377"/>
            <a:ext cx="272125" cy="272125"/>
          </a:xfrm>
          <a:prstGeom prst="rect">
            <a:avLst/>
          </a:prstGeom>
        </p:spPr>
      </p:pic>
      <p:sp>
        <p:nvSpPr>
          <p:cNvPr id="11" name="Text 7"/>
          <p:cNvSpPr/>
          <p:nvPr/>
        </p:nvSpPr>
        <p:spPr>
          <a:xfrm>
            <a:off x="4608576" y="271576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Tailwind CSS v4</a:t>
            </a:r>
            <a:endParaRPr lang="en-US" sz="1350" dirty="0"/>
          </a:p>
        </p:txBody>
      </p:sp>
      <p:sp>
        <p:nvSpPr>
          <p:cNvPr id="12" name="Text 8"/>
          <p:cNvSpPr/>
          <p:nvPr/>
        </p:nvSpPr>
        <p:spPr>
          <a:xfrm>
            <a:off x="4562856" y="304495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Utility-first, CSS-native design tokens</a:t>
            </a:r>
            <a:endParaRPr lang="en-US" sz="1050" dirty="0"/>
          </a:p>
        </p:txBody>
      </p:sp>
      <p:sp>
        <p:nvSpPr>
          <p:cNvPr id="13" name="Shape 9"/>
          <p:cNvSpPr/>
          <p:nvPr/>
        </p:nvSpPr>
        <p:spPr>
          <a:xfrm>
            <a:off x="8110728" y="1874520"/>
            <a:ext cx="3520440" cy="1600200"/>
          </a:xfrm>
          <a:prstGeom prst="roundRect">
            <a:avLst>
              <a:gd name="adj" fmla="val 4000"/>
            </a:avLst>
          </a:prstGeom>
          <a:solidFill>
            <a:srgbClr val="F4F7FE"/>
          </a:solidFill>
          <a:ln/>
        </p:spPr>
      </p:sp>
      <p:sp>
        <p:nvSpPr>
          <p:cNvPr id="14" name="Shape 10"/>
          <p:cNvSpPr/>
          <p:nvPr/>
        </p:nvSpPr>
        <p:spPr>
          <a:xfrm>
            <a:off x="8394192" y="2093976"/>
            <a:ext cx="566928" cy="566928"/>
          </a:xfrm>
          <a:prstGeom prst="ellipse">
            <a:avLst/>
          </a:prstGeom>
          <a:solidFill>
            <a:srgbClr val="CADCFC"/>
          </a:solidFill>
          <a:ln/>
        </p:spPr>
      </p:sp>
      <p:pic>
        <p:nvPicPr>
          <p:cNvPr id="15" name="Image 2" descr="/home/claude/viva_ppt/icons/layer_navy.png"/>
          <p:cNvPicPr>
            <a:picLocks noChangeAspect="1"/>
          </p:cNvPicPr>
          <p:nvPr/>
        </p:nvPicPr>
        <p:blipFill>
          <a:blip r:embed="rId5"/>
          <a:stretch>
            <a:fillRect/>
          </a:stretch>
        </p:blipFill>
        <p:spPr>
          <a:xfrm>
            <a:off x="8541593" y="2241377"/>
            <a:ext cx="272125" cy="272125"/>
          </a:xfrm>
          <a:prstGeom prst="rect">
            <a:avLst/>
          </a:prstGeom>
        </p:spPr>
      </p:pic>
      <p:sp>
        <p:nvSpPr>
          <p:cNvPr id="16" name="Text 11"/>
          <p:cNvSpPr/>
          <p:nvPr/>
        </p:nvSpPr>
        <p:spPr>
          <a:xfrm>
            <a:off x="8385048" y="271576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HTML5 Canvas</a:t>
            </a:r>
            <a:endParaRPr lang="en-US" sz="1350" dirty="0"/>
          </a:p>
        </p:txBody>
      </p:sp>
      <p:sp>
        <p:nvSpPr>
          <p:cNvPr id="17" name="Text 12"/>
          <p:cNvSpPr/>
          <p:nvPr/>
        </p:nvSpPr>
        <p:spPr>
          <a:xfrm>
            <a:off x="8339328" y="304495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Smooth animation at scale vs. DOM nodes</a:t>
            </a:r>
            <a:endParaRPr lang="en-US" sz="1050" dirty="0"/>
          </a:p>
        </p:txBody>
      </p:sp>
      <p:sp>
        <p:nvSpPr>
          <p:cNvPr id="18" name="Shape 13"/>
          <p:cNvSpPr/>
          <p:nvPr/>
        </p:nvSpPr>
        <p:spPr>
          <a:xfrm>
            <a:off x="557784" y="3749040"/>
            <a:ext cx="3520440" cy="1600200"/>
          </a:xfrm>
          <a:prstGeom prst="roundRect">
            <a:avLst>
              <a:gd name="adj" fmla="val 4000"/>
            </a:avLst>
          </a:prstGeom>
          <a:solidFill>
            <a:srgbClr val="F4F7FE"/>
          </a:solidFill>
          <a:ln/>
        </p:spPr>
      </p:sp>
      <p:sp>
        <p:nvSpPr>
          <p:cNvPr id="19" name="Shape 14"/>
          <p:cNvSpPr/>
          <p:nvPr/>
        </p:nvSpPr>
        <p:spPr>
          <a:xfrm>
            <a:off x="841248" y="3968496"/>
            <a:ext cx="566928" cy="566928"/>
          </a:xfrm>
          <a:prstGeom prst="ellipse">
            <a:avLst/>
          </a:prstGeom>
          <a:solidFill>
            <a:srgbClr val="CADCFC"/>
          </a:solidFill>
          <a:ln/>
        </p:spPr>
      </p:sp>
      <p:pic>
        <p:nvPicPr>
          <p:cNvPr id="20" name="Image 3" descr="/home/claude/viva_ppt/icons/flask_navy.png"/>
          <p:cNvPicPr>
            <a:picLocks noChangeAspect="1"/>
          </p:cNvPicPr>
          <p:nvPr/>
        </p:nvPicPr>
        <p:blipFill>
          <a:blip r:embed="rId6"/>
          <a:stretch>
            <a:fillRect/>
          </a:stretch>
        </p:blipFill>
        <p:spPr>
          <a:xfrm>
            <a:off x="988649" y="4115897"/>
            <a:ext cx="272125" cy="272125"/>
          </a:xfrm>
          <a:prstGeom prst="rect">
            <a:avLst/>
          </a:prstGeom>
        </p:spPr>
      </p:pic>
      <p:sp>
        <p:nvSpPr>
          <p:cNvPr id="21" name="Text 15"/>
          <p:cNvSpPr/>
          <p:nvPr/>
        </p:nvSpPr>
        <p:spPr>
          <a:xfrm>
            <a:off x="832104" y="459028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Vitest</a:t>
            </a:r>
            <a:endParaRPr lang="en-US" sz="1350" dirty="0"/>
          </a:p>
        </p:txBody>
      </p:sp>
      <p:sp>
        <p:nvSpPr>
          <p:cNvPr id="22" name="Text 16"/>
          <p:cNvSpPr/>
          <p:nvPr/>
        </p:nvSpPr>
        <p:spPr>
          <a:xfrm>
            <a:off x="786384" y="491947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Native ESM, shares config with Vite</a:t>
            </a:r>
            <a:endParaRPr lang="en-US" sz="1050" dirty="0"/>
          </a:p>
        </p:txBody>
      </p:sp>
      <p:sp>
        <p:nvSpPr>
          <p:cNvPr id="23" name="Shape 17"/>
          <p:cNvSpPr/>
          <p:nvPr/>
        </p:nvSpPr>
        <p:spPr>
          <a:xfrm>
            <a:off x="4334256" y="3749040"/>
            <a:ext cx="3520440" cy="1600200"/>
          </a:xfrm>
          <a:prstGeom prst="roundRect">
            <a:avLst>
              <a:gd name="adj" fmla="val 4000"/>
            </a:avLst>
          </a:prstGeom>
          <a:solidFill>
            <a:srgbClr val="F4F7FE"/>
          </a:solidFill>
          <a:ln/>
        </p:spPr>
      </p:sp>
      <p:sp>
        <p:nvSpPr>
          <p:cNvPr id="24" name="Shape 18"/>
          <p:cNvSpPr/>
          <p:nvPr/>
        </p:nvSpPr>
        <p:spPr>
          <a:xfrm>
            <a:off x="4617720" y="3968496"/>
            <a:ext cx="566928" cy="566928"/>
          </a:xfrm>
          <a:prstGeom prst="ellipse">
            <a:avLst/>
          </a:prstGeom>
          <a:solidFill>
            <a:srgbClr val="CADCFC"/>
          </a:solidFill>
          <a:ln/>
        </p:spPr>
      </p:sp>
      <p:pic>
        <p:nvPicPr>
          <p:cNvPr id="25" name="Image 4" descr="/home/claude/viva_ppt/icons/cube.png"/>
          <p:cNvPicPr>
            <a:picLocks noChangeAspect="1"/>
          </p:cNvPicPr>
          <p:nvPr/>
        </p:nvPicPr>
        <p:blipFill>
          <a:blip r:embed="rId7"/>
          <a:stretch>
            <a:fillRect/>
          </a:stretch>
        </p:blipFill>
        <p:spPr>
          <a:xfrm>
            <a:off x="4765121" y="4115897"/>
            <a:ext cx="272125" cy="272125"/>
          </a:xfrm>
          <a:prstGeom prst="rect">
            <a:avLst/>
          </a:prstGeom>
        </p:spPr>
      </p:pic>
      <p:sp>
        <p:nvSpPr>
          <p:cNvPr id="26" name="Text 19"/>
          <p:cNvSpPr/>
          <p:nvPr/>
        </p:nvSpPr>
        <p:spPr>
          <a:xfrm>
            <a:off x="4608576" y="459028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Vercel</a:t>
            </a:r>
            <a:endParaRPr lang="en-US" sz="1350" dirty="0"/>
          </a:p>
        </p:txBody>
      </p:sp>
      <p:sp>
        <p:nvSpPr>
          <p:cNvPr id="27" name="Text 20"/>
          <p:cNvSpPr/>
          <p:nvPr/>
        </p:nvSpPr>
        <p:spPr>
          <a:xfrm>
            <a:off x="4562856" y="491947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Zero-config static-site deployment</a:t>
            </a:r>
            <a:endParaRPr lang="en-US" sz="1050" dirty="0"/>
          </a:p>
        </p:txBody>
      </p:sp>
      <p:sp>
        <p:nvSpPr>
          <p:cNvPr id="28" name="Shape 21"/>
          <p:cNvSpPr/>
          <p:nvPr/>
        </p:nvSpPr>
        <p:spPr>
          <a:xfrm>
            <a:off x="8110728" y="3749040"/>
            <a:ext cx="3520440" cy="1600200"/>
          </a:xfrm>
          <a:prstGeom prst="roundRect">
            <a:avLst>
              <a:gd name="adj" fmla="val 4000"/>
            </a:avLst>
          </a:prstGeom>
          <a:solidFill>
            <a:srgbClr val="F4F7FE"/>
          </a:solidFill>
          <a:ln/>
        </p:spPr>
      </p:sp>
      <p:sp>
        <p:nvSpPr>
          <p:cNvPr id="29" name="Shape 22"/>
          <p:cNvSpPr/>
          <p:nvPr/>
        </p:nvSpPr>
        <p:spPr>
          <a:xfrm>
            <a:off x="8394192" y="3968496"/>
            <a:ext cx="566928" cy="566928"/>
          </a:xfrm>
          <a:prstGeom prst="ellipse">
            <a:avLst/>
          </a:prstGeom>
          <a:solidFill>
            <a:srgbClr val="CADCFC"/>
          </a:solidFill>
          <a:ln/>
        </p:spPr>
      </p:sp>
      <p:pic>
        <p:nvPicPr>
          <p:cNvPr id="30" name="Image 5" descr="/home/claude/viva_ppt/icons/chart_navy.png"/>
          <p:cNvPicPr>
            <a:picLocks noChangeAspect="1"/>
          </p:cNvPicPr>
          <p:nvPr/>
        </p:nvPicPr>
        <p:blipFill>
          <a:blip r:embed="rId8"/>
          <a:stretch>
            <a:fillRect/>
          </a:stretch>
        </p:blipFill>
        <p:spPr>
          <a:xfrm>
            <a:off x="8541593" y="4115897"/>
            <a:ext cx="272125" cy="272125"/>
          </a:xfrm>
          <a:prstGeom prst="rect">
            <a:avLst/>
          </a:prstGeom>
        </p:spPr>
      </p:pic>
      <p:sp>
        <p:nvSpPr>
          <p:cNvPr id="31" name="Text 23"/>
          <p:cNvSpPr/>
          <p:nvPr/>
        </p:nvSpPr>
        <p:spPr>
          <a:xfrm>
            <a:off x="8385048" y="4590288"/>
            <a:ext cx="2971800" cy="32004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56 Unit Tests</a:t>
            </a:r>
            <a:endParaRPr lang="en-US" sz="1350" dirty="0"/>
          </a:p>
        </p:txBody>
      </p:sp>
      <p:sp>
        <p:nvSpPr>
          <p:cNvPr id="32" name="Text 24"/>
          <p:cNvSpPr/>
          <p:nvPr/>
        </p:nvSpPr>
        <p:spPr>
          <a:xfrm>
            <a:off x="8339328" y="4919472"/>
            <a:ext cx="3063240" cy="365760"/>
          </a:xfrm>
          <a:prstGeom prst="rect">
            <a:avLst/>
          </a:prstGeom>
          <a:noFill/>
          <a:ln/>
        </p:spPr>
        <p:txBody>
          <a:bodyPr wrap="square" rtlCol="0" anchor="ctr"/>
          <a:lstStyle/>
          <a:p>
            <a:pPr marL="0" indent="0" algn="ctr">
              <a:buNone/>
            </a:pPr>
            <a:r>
              <a:rPr lang="en-US" sz="1050" dirty="0">
                <a:solidFill>
                  <a:srgbClr val="5B6280"/>
                </a:solidFill>
                <a:latin typeface="Calibri" pitchFamily="34" charset="0"/>
                <a:ea typeface="Calibri" pitchFamily="34" charset="-122"/>
                <a:cs typeface="Calibri" pitchFamily="34" charset="-120"/>
              </a:rPr>
              <a:t>Across 5 files, all passing</a:t>
            </a:r>
            <a:endParaRPr lang="en-US" sz="1050" dirty="0"/>
          </a:p>
        </p:txBody>
      </p:sp>
      <p:sp>
        <p:nvSpPr>
          <p:cNvPr id="33" name="Text 2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Algorithms at a Glance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51560" y="1965960"/>
          <a:ext cx="10058400" cy="2834640"/>
        </p:xfrm>
        <a:graphic>
          <a:graphicData uri="http://schemas.openxmlformats.org/drawingml/2006/table">
            <a:tbl>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Structure</a:t>
                      </a:r>
                      <a:endParaRPr lang="en-US" sz="130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Shortest Path?</a:t>
                      </a:r>
                      <a:endParaRPr lang="en-US" sz="130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Complexity</a:t>
                      </a:r>
                      <a:endParaRPr lang="en-US" sz="130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ctr">
                        <a:buNone/>
                      </a:pPr>
                      <a:r>
                        <a:rPr lang="en-US" sz="1250" b="1" dirty="0">
                          <a:solidFill>
                            <a:srgbClr val="1B1F3B"/>
                          </a:solidFill>
                          <a:latin typeface="Calibri" pitchFamily="34" charset="0"/>
                          <a:ea typeface="Calibri" pitchFamily="34" charset="-122"/>
                          <a:cs typeface="Calibri" pitchFamily="34" charset="-120"/>
                        </a:rPr>
                        <a:t>BFS</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Queue</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Yes (unweighted)</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O(V + E)</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250" b="1" dirty="0">
                          <a:solidFill>
                            <a:srgbClr val="1B1F3B"/>
                          </a:solidFill>
                          <a:latin typeface="Calibri" pitchFamily="34" charset="0"/>
                          <a:ea typeface="Calibri" pitchFamily="34" charset="-122"/>
                          <a:cs typeface="Calibri" pitchFamily="34" charset="-120"/>
                        </a:rPr>
                        <a:t>DFS</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Stack</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B0374D"/>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O(V + E)</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250" b="1" dirty="0">
                          <a:solidFill>
                            <a:srgbClr val="1B1F3B"/>
                          </a:solidFill>
                          <a:latin typeface="Calibri" pitchFamily="34" charset="0"/>
                          <a:ea typeface="Calibri" pitchFamily="34" charset="-122"/>
                          <a:cs typeface="Calibri" pitchFamily="34" charset="-120"/>
                        </a:rPr>
                        <a:t>Dijkstra's</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Priority Queue</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Yes (weighted)</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O((V+E) log V)</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ctr">
                        <a:buNone/>
                      </a:pPr>
                      <a:r>
                        <a:rPr lang="en-US" sz="1250" b="1" dirty="0">
                          <a:solidFill>
                            <a:srgbClr val="1B1F3B"/>
                          </a:solidFill>
                          <a:latin typeface="Calibri" pitchFamily="34" charset="0"/>
                          <a:ea typeface="Calibri" pitchFamily="34" charset="-122"/>
                          <a:cs typeface="Calibri" pitchFamily="34" charset="-120"/>
                        </a:rPr>
                        <a:t>A* Search</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PQ + Heuristic</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Yes (admissible h)</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tc>
                  <a:txBody>
                    <a:bodyPr/>
                    <a:lstStyle/>
                    <a:p>
                      <a:pPr marL="0" indent="0" algn="ctr">
                        <a:buNone/>
                      </a:pPr>
                      <a:r>
                        <a:rPr lang="en-US" sz="1250" dirty="0">
                          <a:solidFill>
                            <a:srgbClr val="1B1F3B"/>
                          </a:solidFill>
                          <a:latin typeface="Calibri" pitchFamily="34" charset="0"/>
                          <a:ea typeface="Calibri" pitchFamily="34" charset="-122"/>
                          <a:cs typeface="Calibri" pitchFamily="34" charset="-120"/>
                        </a:rPr>
                        <a:t>O((V+E) log V)</a:t>
                      </a:r>
                      <a:endParaRPr lang="en-US" sz="1250" dirty="0">
                        <a:latin typeface="Calibri" charset="0"/>
                        <a:ea typeface="Calibri" charset="0"/>
                        <a:cs typeface="Calibri" charset="0"/>
                      </a:endParaRPr>
                    </a:p>
                  </a:txBody>
                  <a:tcPr anchor="ctr">
                    <a:lnL w="12700" cap="flat" cmpd="sng" algn="ctr">
                      <a:solidFill>
                        <a:srgbClr val="DCE3F5"/>
                      </a:solidFill>
                      <a:prstDash val="solid"/>
                      <a:round/>
                      <a:headEnd type="none" w="med" len="med"/>
                      <a:tailEnd type="none" w="med" len="med"/>
                    </a:lnL>
                    <a:lnR w="12700" cap="flat" cmpd="sng" algn="ctr">
                      <a:solidFill>
                        <a:srgbClr val="DCE3F5"/>
                      </a:solidFill>
                      <a:prstDash val="solid"/>
                      <a:round/>
                      <a:headEnd type="none" w="med" len="med"/>
                      <a:tailEnd type="none" w="med" len="med"/>
                    </a:lnR>
                    <a:lnT w="12700" cap="flat" cmpd="sng" algn="ctr">
                      <a:solidFill>
                        <a:srgbClr val="DCE3F5"/>
                      </a:solidFill>
                      <a:prstDash val="solid"/>
                      <a:round/>
                      <a:headEnd type="none" w="med" len="med"/>
                      <a:tailEnd type="none" w="med" len="med"/>
                    </a:lnT>
                    <a:lnB w="12700" cap="flat" cmpd="sng" algn="ctr">
                      <a:solidFill>
                        <a:srgbClr val="DCE3F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1051560" y="5166360"/>
            <a:ext cx="10058400" cy="457200"/>
          </a:xfrm>
          <a:prstGeom prst="rect">
            <a:avLst/>
          </a:prstGeom>
          <a:noFill/>
          <a:ln/>
        </p:spPr>
        <p:txBody>
          <a:bodyPr wrap="square" rtlCol="0" anchor="ctr"/>
          <a:lstStyle/>
          <a:p>
            <a:pPr marL="0" indent="0" algn="ctr">
              <a:buNone/>
            </a:pPr>
            <a:r>
              <a:rPr lang="en-US" sz="1250" i="1" dirty="0">
                <a:solidFill>
                  <a:srgbClr val="5B6280"/>
                </a:solidFill>
                <a:latin typeface="Calibri" pitchFamily="34" charset="0"/>
                <a:ea typeface="Calibri" pitchFamily="34" charset="-122"/>
                <a:cs typeface="Calibri" pitchFamily="34" charset="-120"/>
              </a:rPr>
              <a:t>All four are implemented as generator functions over a shared grid — detailed in the design highlight ahead.</a:t>
            </a:r>
            <a:endParaRPr lang="en-US" sz="1250" dirty="0"/>
          </a:p>
        </p:txBody>
      </p:sp>
      <p:sp>
        <p:nvSpPr>
          <p:cNvPr id="5" name="Text 2"/>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Maze Generation</a:t>
            </a:r>
            <a:endParaRPr lang="en-US" sz="3000" dirty="0"/>
          </a:p>
        </p:txBody>
      </p:sp>
      <p:sp>
        <p:nvSpPr>
          <p:cNvPr id="3" name="Text 1"/>
          <p:cNvSpPr/>
          <p:nvPr/>
        </p:nvSpPr>
        <p:spPr>
          <a:xfrm>
            <a:off x="548640" y="109728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Both algorithms build a spanning tree over the grid — solvability is structural, not validated after the fact.</a:t>
            </a:r>
            <a:endParaRPr lang="en-US" sz="1350" dirty="0"/>
          </a:p>
        </p:txBody>
      </p:sp>
      <p:sp>
        <p:nvSpPr>
          <p:cNvPr id="4" name="Shape 2"/>
          <p:cNvSpPr/>
          <p:nvPr/>
        </p:nvSpPr>
        <p:spPr>
          <a:xfrm>
            <a:off x="653796" y="1828800"/>
            <a:ext cx="5212080" cy="3246120"/>
          </a:xfrm>
          <a:prstGeom prst="roundRect">
            <a:avLst>
              <a:gd name="adj" fmla="val 2254"/>
            </a:avLst>
          </a:prstGeom>
          <a:solidFill>
            <a:srgbClr val="F4F7FE"/>
          </a:solidFill>
          <a:ln/>
        </p:spPr>
      </p:sp>
      <p:sp>
        <p:nvSpPr>
          <p:cNvPr id="5" name="Shape 3"/>
          <p:cNvSpPr/>
          <p:nvPr/>
        </p:nvSpPr>
        <p:spPr>
          <a:xfrm>
            <a:off x="1019556" y="1828800"/>
            <a:ext cx="640080" cy="640080"/>
          </a:xfrm>
          <a:prstGeom prst="ellipse">
            <a:avLst/>
          </a:prstGeom>
          <a:solidFill>
            <a:srgbClr val="CADCFC"/>
          </a:solidFill>
          <a:ln/>
        </p:spPr>
      </p:sp>
      <p:pic>
        <p:nvPicPr>
          <p:cNvPr id="6" name="Image 0" descr="/home/claude/viva_ppt/icons/shuffle_navy.png"/>
          <p:cNvPicPr>
            <a:picLocks noChangeAspect="1"/>
          </p:cNvPicPr>
          <p:nvPr/>
        </p:nvPicPr>
        <p:blipFill>
          <a:blip r:embed="rId3"/>
          <a:stretch>
            <a:fillRect/>
          </a:stretch>
        </p:blipFill>
        <p:spPr>
          <a:xfrm>
            <a:off x="1185977" y="1995221"/>
            <a:ext cx="307238" cy="307238"/>
          </a:xfrm>
          <a:prstGeom prst="rect">
            <a:avLst/>
          </a:prstGeom>
        </p:spPr>
      </p:pic>
      <p:sp>
        <p:nvSpPr>
          <p:cNvPr id="7" name="Text 4"/>
          <p:cNvSpPr/>
          <p:nvPr/>
        </p:nvSpPr>
        <p:spPr>
          <a:xfrm>
            <a:off x="1842516" y="1965960"/>
            <a:ext cx="384048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Randomized DFS</a:t>
            </a:r>
            <a:endParaRPr lang="en-US" sz="1700" dirty="0"/>
          </a:p>
        </p:txBody>
      </p:sp>
      <p:sp>
        <p:nvSpPr>
          <p:cNvPr id="8" name="Text 5"/>
          <p:cNvSpPr/>
          <p:nvPr/>
        </p:nvSpPr>
        <p:spPr>
          <a:xfrm>
            <a:off x="1842516" y="2313432"/>
            <a:ext cx="3840480" cy="274320"/>
          </a:xfrm>
          <a:prstGeom prst="rect">
            <a:avLst/>
          </a:prstGeom>
          <a:noFill/>
          <a:ln/>
        </p:spPr>
        <p:txBody>
          <a:bodyPr wrap="square" rtlCol="0" anchor="ctr"/>
          <a:lstStyle/>
          <a:p>
            <a:pPr marL="0" indent="0">
              <a:buNone/>
            </a:pPr>
            <a:r>
              <a:rPr lang="en-US" sz="1150" i="1" dirty="0">
                <a:solidFill>
                  <a:srgbClr val="5B6280"/>
                </a:solidFill>
                <a:latin typeface="Calibri" pitchFamily="34" charset="0"/>
                <a:ea typeface="Calibri" pitchFamily="34" charset="-122"/>
                <a:cs typeface="Calibri" pitchFamily="34" charset="-120"/>
              </a:rPr>
              <a:t>(Recursive Backtracker)</a:t>
            </a:r>
            <a:endParaRPr lang="en-US" sz="1150" dirty="0"/>
          </a:p>
        </p:txBody>
      </p:sp>
      <p:sp>
        <p:nvSpPr>
          <p:cNvPr id="9" name="Text 6"/>
          <p:cNvSpPr/>
          <p:nvPr/>
        </p:nvSpPr>
        <p:spPr>
          <a:xfrm>
            <a:off x="1065276" y="2971800"/>
            <a:ext cx="4389120" cy="868680"/>
          </a:xfrm>
          <a:prstGeom prst="rect">
            <a:avLst/>
          </a:prstGeom>
          <a:noFill/>
          <a:ln/>
        </p:spPr>
        <p:txBody>
          <a:bodyPr wrap="square" rtlCol="0" anchor="ctr"/>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Always extends from the most recently carved room, using an explicit stack.</a:t>
            </a:r>
            <a:endParaRPr lang="en-US" sz="1300" dirty="0"/>
          </a:p>
        </p:txBody>
      </p:sp>
      <p:sp>
        <p:nvSpPr>
          <p:cNvPr id="10" name="Shape 7"/>
          <p:cNvSpPr/>
          <p:nvPr/>
        </p:nvSpPr>
        <p:spPr>
          <a:xfrm>
            <a:off x="1065276" y="3931920"/>
            <a:ext cx="4389120" cy="0"/>
          </a:xfrm>
          <a:prstGeom prst="line">
            <a:avLst/>
          </a:prstGeom>
          <a:noFill/>
          <a:ln w="12700">
            <a:solidFill>
              <a:srgbClr val="DCE3F5"/>
            </a:solidFill>
            <a:prstDash val="solid"/>
          </a:ln>
        </p:spPr>
      </p:sp>
      <p:sp>
        <p:nvSpPr>
          <p:cNvPr id="11" name="Text 8"/>
          <p:cNvSpPr/>
          <p:nvPr/>
        </p:nvSpPr>
        <p:spPr>
          <a:xfrm>
            <a:off x="1065276" y="4114800"/>
            <a:ext cx="4389120" cy="822960"/>
          </a:xfrm>
          <a:prstGeom prst="rect">
            <a:avLst/>
          </a:prstGeom>
          <a:noFill/>
          <a:ln/>
        </p:spPr>
        <p:txBody>
          <a:bodyPr wrap="square" rtlCol="0" anchor="ctr"/>
          <a:lstStyle/>
          <a:p>
            <a:pPr marL="0" indent="0">
              <a:lnSpc>
                <a:spcPct val="125000"/>
              </a:lnSpc>
              <a:buNone/>
            </a:pPr>
            <a:r>
              <a:rPr lang="en-US" sz="1300" b="1" i="1" dirty="0">
                <a:solidFill>
                  <a:srgbClr val="1E2761"/>
                </a:solidFill>
                <a:latin typeface="Calibri" pitchFamily="34" charset="0"/>
                <a:ea typeface="Calibri" pitchFamily="34" charset="-122"/>
                <a:cs typeface="Calibri" pitchFamily="34" charset="-120"/>
              </a:rPr>
              <a:t>Produces long, low-branching corridors.</a:t>
            </a:r>
            <a:endParaRPr lang="en-US" sz="1300" dirty="0"/>
          </a:p>
        </p:txBody>
      </p:sp>
      <p:sp>
        <p:nvSpPr>
          <p:cNvPr id="12" name="Shape 9"/>
          <p:cNvSpPr/>
          <p:nvPr/>
        </p:nvSpPr>
        <p:spPr>
          <a:xfrm>
            <a:off x="6323076" y="1828800"/>
            <a:ext cx="5212080" cy="3246120"/>
          </a:xfrm>
          <a:prstGeom prst="roundRect">
            <a:avLst>
              <a:gd name="adj" fmla="val 2254"/>
            </a:avLst>
          </a:prstGeom>
          <a:solidFill>
            <a:srgbClr val="F4F7FE"/>
          </a:solidFill>
          <a:ln/>
        </p:spPr>
      </p:sp>
      <p:sp>
        <p:nvSpPr>
          <p:cNvPr id="13" name="Shape 10"/>
          <p:cNvSpPr/>
          <p:nvPr/>
        </p:nvSpPr>
        <p:spPr>
          <a:xfrm>
            <a:off x="6688836" y="1828800"/>
            <a:ext cx="640080" cy="640080"/>
          </a:xfrm>
          <a:prstGeom prst="ellipse">
            <a:avLst/>
          </a:prstGeom>
          <a:solidFill>
            <a:srgbClr val="CADCFC"/>
          </a:solidFill>
          <a:ln/>
        </p:spPr>
      </p:sp>
      <p:pic>
        <p:nvPicPr>
          <p:cNvPr id="14" name="Image 1" descr="/home/claude/viva_ppt/icons/shuffle_navy.png"/>
          <p:cNvPicPr>
            <a:picLocks noChangeAspect="1"/>
          </p:cNvPicPr>
          <p:nvPr/>
        </p:nvPicPr>
        <p:blipFill>
          <a:blip r:embed="rId3"/>
          <a:stretch>
            <a:fillRect/>
          </a:stretch>
        </p:blipFill>
        <p:spPr>
          <a:xfrm>
            <a:off x="6855257" y="1995221"/>
            <a:ext cx="307238" cy="307238"/>
          </a:xfrm>
          <a:prstGeom prst="rect">
            <a:avLst/>
          </a:prstGeom>
        </p:spPr>
      </p:pic>
      <p:sp>
        <p:nvSpPr>
          <p:cNvPr id="15" name="Text 11"/>
          <p:cNvSpPr/>
          <p:nvPr/>
        </p:nvSpPr>
        <p:spPr>
          <a:xfrm>
            <a:off x="7511796" y="1965960"/>
            <a:ext cx="384048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Randomized Prim's</a:t>
            </a:r>
            <a:endParaRPr lang="en-US" sz="1700" dirty="0"/>
          </a:p>
        </p:txBody>
      </p:sp>
      <p:sp>
        <p:nvSpPr>
          <p:cNvPr id="16" name="Text 12"/>
          <p:cNvSpPr/>
          <p:nvPr/>
        </p:nvSpPr>
        <p:spPr>
          <a:xfrm>
            <a:off x="6734556" y="2971800"/>
            <a:ext cx="4389120" cy="868680"/>
          </a:xfrm>
          <a:prstGeom prst="rect">
            <a:avLst/>
          </a:prstGeom>
          <a:noFill/>
          <a:ln/>
        </p:spPr>
        <p:txBody>
          <a:bodyPr wrap="square" rtlCol="0" anchor="ctr"/>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Selects uniformly at random from the entire growing frontier — not just the latest room.</a:t>
            </a:r>
            <a:endParaRPr lang="en-US" sz="1300" dirty="0"/>
          </a:p>
        </p:txBody>
      </p:sp>
      <p:sp>
        <p:nvSpPr>
          <p:cNvPr id="17" name="Shape 13"/>
          <p:cNvSpPr/>
          <p:nvPr/>
        </p:nvSpPr>
        <p:spPr>
          <a:xfrm>
            <a:off x="6734556" y="3931920"/>
            <a:ext cx="4389120" cy="0"/>
          </a:xfrm>
          <a:prstGeom prst="line">
            <a:avLst/>
          </a:prstGeom>
          <a:noFill/>
          <a:ln w="12700">
            <a:solidFill>
              <a:srgbClr val="DCE3F5"/>
            </a:solidFill>
            <a:prstDash val="solid"/>
          </a:ln>
        </p:spPr>
      </p:sp>
      <p:sp>
        <p:nvSpPr>
          <p:cNvPr id="18" name="Text 14"/>
          <p:cNvSpPr/>
          <p:nvPr/>
        </p:nvSpPr>
        <p:spPr>
          <a:xfrm>
            <a:off x="6734556" y="4114800"/>
            <a:ext cx="4389120" cy="822960"/>
          </a:xfrm>
          <a:prstGeom prst="rect">
            <a:avLst/>
          </a:prstGeom>
          <a:noFill/>
          <a:ln/>
        </p:spPr>
        <p:txBody>
          <a:bodyPr wrap="square" rtlCol="0" anchor="ctr"/>
          <a:lstStyle/>
          <a:p>
            <a:pPr marL="0" indent="0">
              <a:lnSpc>
                <a:spcPct val="125000"/>
              </a:lnSpc>
              <a:buNone/>
            </a:pPr>
            <a:r>
              <a:rPr lang="en-US" sz="1300" b="1" i="1" dirty="0">
                <a:solidFill>
                  <a:srgbClr val="1E2761"/>
                </a:solidFill>
                <a:latin typeface="Calibri" pitchFamily="34" charset="0"/>
                <a:ea typeface="Calibri" pitchFamily="34" charset="-122"/>
                <a:cs typeface="Calibri" pitchFamily="34" charset="-120"/>
              </a:rPr>
              <a:t>Produces shorter dead ends, more even branching.</a:t>
            </a:r>
            <a:endParaRPr lang="en-US" sz="1300" dirty="0"/>
          </a:p>
        </p:txBody>
      </p:sp>
      <p:sp>
        <p:nvSpPr>
          <p:cNvPr id="19" name="Text 1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457200"/>
          </a:xfrm>
          <a:prstGeom prst="rect">
            <a:avLst/>
          </a:prstGeom>
          <a:noFill/>
          <a:ln/>
        </p:spPr>
        <p:txBody>
          <a:bodyPr wrap="square" rtlCol="0" anchor="ctr"/>
          <a:lstStyle/>
          <a:p>
            <a:pPr marL="0" indent="0">
              <a:buNone/>
            </a:pPr>
            <a:r>
              <a:rPr lang="en-US" sz="1400" b="1" kern="0" spc="200" dirty="0">
                <a:solidFill>
                  <a:srgbClr val="2EC4B6"/>
                </a:solidFill>
                <a:latin typeface="Calibri" pitchFamily="34" charset="0"/>
                <a:ea typeface="Calibri" pitchFamily="34" charset="-122"/>
                <a:cs typeface="Calibri" pitchFamily="34" charset="-120"/>
              </a:rPr>
              <a:t>Design Highlight</a:t>
            </a:r>
            <a:endParaRPr lang="en-US" sz="1400" dirty="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Generator Function, Three Ways to Run</a:t>
            </a:r>
            <a:endParaRPr lang="en-US" sz="3000" dirty="0"/>
          </a:p>
        </p:txBody>
      </p:sp>
      <p:sp>
        <p:nvSpPr>
          <p:cNvPr id="4" name="Text 2"/>
          <p:cNvSpPr/>
          <p:nvPr/>
        </p:nvSpPr>
        <p:spPr>
          <a:xfrm>
            <a:off x="640080" y="1600200"/>
            <a:ext cx="10881360" cy="45720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Every algorithm — pathfinding and maze generation alike — yields one step at a time instead of returning a final answer.</a:t>
            </a:r>
            <a:endParaRPr lang="en-US" sz="1400" dirty="0"/>
          </a:p>
        </p:txBody>
      </p:sp>
      <p:sp>
        <p:nvSpPr>
          <p:cNvPr id="5" name="Shape 3"/>
          <p:cNvSpPr/>
          <p:nvPr/>
        </p:nvSpPr>
        <p:spPr>
          <a:xfrm>
            <a:off x="4937760" y="2423160"/>
            <a:ext cx="2313432" cy="868680"/>
          </a:xfrm>
          <a:prstGeom prst="roundRect">
            <a:avLst>
              <a:gd name="adj" fmla="val 7368"/>
            </a:avLst>
          </a:prstGeom>
          <a:solidFill>
            <a:srgbClr val="2EC4B6"/>
          </a:solidFill>
          <a:ln/>
        </p:spPr>
      </p:sp>
      <p:sp>
        <p:nvSpPr>
          <p:cNvPr id="6" name="Text 4"/>
          <p:cNvSpPr/>
          <p:nvPr/>
        </p:nvSpPr>
        <p:spPr>
          <a:xfrm>
            <a:off x="4937760" y="2423160"/>
            <a:ext cx="2313432" cy="868680"/>
          </a:xfrm>
          <a:prstGeom prst="rect">
            <a:avLst/>
          </a:prstGeom>
          <a:noFill/>
          <a:ln/>
        </p:spPr>
        <p:txBody>
          <a:bodyPr wrap="square" rtlCol="0" anchor="ctr"/>
          <a:lstStyle/>
          <a:p>
            <a:pPr marL="0" indent="0" algn="ctr">
              <a:buNone/>
            </a:pPr>
            <a:r>
              <a:rPr lang="en-US" sz="1300" b="1" dirty="0">
                <a:solidFill>
                  <a:srgbClr val="141B4D"/>
                </a:solidFill>
                <a:latin typeface="Courier New" pitchFamily="34" charset="0"/>
                <a:ea typeface="Courier New" pitchFamily="34" charset="-122"/>
                <a:cs typeface="Courier New" pitchFamily="34" charset="-120"/>
              </a:rPr>
              <a:t>function*</a:t>
            </a:r>
            <a:endParaRPr lang="en-US" sz="1300" dirty="0"/>
          </a:p>
          <a:p>
            <a:pPr marL="0" indent="0" algn="ctr">
              <a:buNone/>
            </a:pPr>
            <a:r>
              <a:rPr lang="en-US" sz="1300" b="1" dirty="0">
                <a:solidFill>
                  <a:srgbClr val="141B4D"/>
                </a:solidFill>
                <a:latin typeface="Courier New" pitchFamily="34" charset="0"/>
                <a:ea typeface="Courier New" pitchFamily="34" charset="-122"/>
                <a:cs typeface="Courier New" pitchFamily="34" charset="-120"/>
              </a:rPr>
              <a:t>algorithm()</a:t>
            </a:r>
            <a:endParaRPr lang="en-US" sz="1300" dirty="0"/>
          </a:p>
        </p:txBody>
      </p:sp>
      <p:sp>
        <p:nvSpPr>
          <p:cNvPr id="7" name="Shape 5"/>
          <p:cNvSpPr/>
          <p:nvPr/>
        </p:nvSpPr>
        <p:spPr>
          <a:xfrm>
            <a:off x="6094476" y="3291840"/>
            <a:ext cx="0" cy="0"/>
          </a:xfrm>
          <a:prstGeom prst="line">
            <a:avLst/>
          </a:prstGeom>
          <a:noFill/>
          <a:ln w="19050">
            <a:solidFill>
              <a:srgbClr val="44518F"/>
            </a:solidFill>
            <a:prstDash val="solid"/>
          </a:ln>
        </p:spPr>
      </p:sp>
      <p:sp>
        <p:nvSpPr>
          <p:cNvPr id="8" name="Shape 6"/>
          <p:cNvSpPr/>
          <p:nvPr/>
        </p:nvSpPr>
        <p:spPr>
          <a:xfrm>
            <a:off x="2391156" y="3291840"/>
            <a:ext cx="0" cy="502920"/>
          </a:xfrm>
          <a:prstGeom prst="line">
            <a:avLst/>
          </a:prstGeom>
          <a:noFill/>
          <a:ln w="19050">
            <a:solidFill>
              <a:srgbClr val="44518F"/>
            </a:solidFill>
            <a:prstDash val="solid"/>
          </a:ln>
        </p:spPr>
      </p:sp>
      <p:sp>
        <p:nvSpPr>
          <p:cNvPr id="9" name="Shape 7"/>
          <p:cNvSpPr/>
          <p:nvPr/>
        </p:nvSpPr>
        <p:spPr>
          <a:xfrm>
            <a:off x="699516" y="3794760"/>
            <a:ext cx="3383280" cy="1965960"/>
          </a:xfrm>
          <a:prstGeom prst="roundRect">
            <a:avLst>
              <a:gd name="adj" fmla="val 3721"/>
            </a:avLst>
          </a:prstGeom>
          <a:solidFill>
            <a:srgbClr val="141B4D"/>
          </a:solidFill>
          <a:ln/>
        </p:spPr>
      </p:sp>
      <p:sp>
        <p:nvSpPr>
          <p:cNvPr id="10" name="Text 8"/>
          <p:cNvSpPr/>
          <p:nvPr/>
        </p:nvSpPr>
        <p:spPr>
          <a:xfrm>
            <a:off x="928116" y="3977640"/>
            <a:ext cx="2926080" cy="457200"/>
          </a:xfrm>
          <a:prstGeom prst="rect">
            <a:avLst/>
          </a:prstGeom>
          <a:noFill/>
          <a:ln/>
        </p:spPr>
        <p:txBody>
          <a:bodyPr wrap="square" rtlCol="0" anchor="ctr"/>
          <a:lstStyle/>
          <a:p>
            <a:pPr marL="0" indent="0">
              <a:buNone/>
            </a:pPr>
            <a:r>
              <a:rPr lang="en-US" sz="1550" b="1" dirty="0">
                <a:solidFill>
                  <a:srgbClr val="2EC4B6"/>
                </a:solidFill>
                <a:latin typeface="Cambria" pitchFamily="34" charset="0"/>
                <a:ea typeface="Cambria" pitchFamily="34" charset="-122"/>
                <a:cs typeface="Cambria" pitchFamily="34" charset="-120"/>
              </a:rPr>
              <a:t>Instant</a:t>
            </a:r>
            <a:endParaRPr lang="en-US" sz="1550" dirty="0"/>
          </a:p>
        </p:txBody>
      </p:sp>
      <p:sp>
        <p:nvSpPr>
          <p:cNvPr id="11" name="Text 9"/>
          <p:cNvSpPr/>
          <p:nvPr/>
        </p:nvSpPr>
        <p:spPr>
          <a:xfrm>
            <a:off x="928116" y="4434840"/>
            <a:ext cx="2926080" cy="1188720"/>
          </a:xfrm>
          <a:prstGeom prst="rect">
            <a:avLst/>
          </a:prstGeom>
          <a:noFill/>
          <a:ln/>
        </p:spPr>
        <p:txBody>
          <a:bodyPr wrap="square"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Drained in a tight loop — fastest speed setting.</a:t>
            </a:r>
            <a:endParaRPr lang="en-US" sz="1200" dirty="0"/>
          </a:p>
        </p:txBody>
      </p:sp>
      <p:sp>
        <p:nvSpPr>
          <p:cNvPr id="12" name="Shape 10"/>
          <p:cNvSpPr/>
          <p:nvPr/>
        </p:nvSpPr>
        <p:spPr>
          <a:xfrm>
            <a:off x="6094476" y="3291840"/>
            <a:ext cx="0" cy="0"/>
          </a:xfrm>
          <a:prstGeom prst="line">
            <a:avLst/>
          </a:prstGeom>
          <a:noFill/>
          <a:ln w="19050">
            <a:solidFill>
              <a:srgbClr val="44518F"/>
            </a:solidFill>
            <a:prstDash val="solid"/>
          </a:ln>
        </p:spPr>
      </p:sp>
      <p:sp>
        <p:nvSpPr>
          <p:cNvPr id="13" name="Shape 11"/>
          <p:cNvSpPr/>
          <p:nvPr/>
        </p:nvSpPr>
        <p:spPr>
          <a:xfrm>
            <a:off x="6094476" y="3291840"/>
            <a:ext cx="0" cy="502920"/>
          </a:xfrm>
          <a:prstGeom prst="line">
            <a:avLst/>
          </a:prstGeom>
          <a:noFill/>
          <a:ln w="19050">
            <a:solidFill>
              <a:srgbClr val="44518F"/>
            </a:solidFill>
            <a:prstDash val="solid"/>
          </a:ln>
        </p:spPr>
      </p:sp>
      <p:sp>
        <p:nvSpPr>
          <p:cNvPr id="14" name="Shape 12"/>
          <p:cNvSpPr/>
          <p:nvPr/>
        </p:nvSpPr>
        <p:spPr>
          <a:xfrm>
            <a:off x="4402836" y="3794760"/>
            <a:ext cx="3383280" cy="1965960"/>
          </a:xfrm>
          <a:prstGeom prst="roundRect">
            <a:avLst>
              <a:gd name="adj" fmla="val 3721"/>
            </a:avLst>
          </a:prstGeom>
          <a:solidFill>
            <a:srgbClr val="141B4D"/>
          </a:solidFill>
          <a:ln/>
        </p:spPr>
      </p:sp>
      <p:sp>
        <p:nvSpPr>
          <p:cNvPr id="15" name="Text 13"/>
          <p:cNvSpPr/>
          <p:nvPr/>
        </p:nvSpPr>
        <p:spPr>
          <a:xfrm>
            <a:off x="4631436" y="3977640"/>
            <a:ext cx="2926080" cy="457200"/>
          </a:xfrm>
          <a:prstGeom prst="rect">
            <a:avLst/>
          </a:prstGeom>
          <a:noFill/>
          <a:ln/>
        </p:spPr>
        <p:txBody>
          <a:bodyPr wrap="square" rtlCol="0" anchor="ctr"/>
          <a:lstStyle/>
          <a:p>
            <a:pPr marL="0" indent="0">
              <a:buNone/>
            </a:pPr>
            <a:r>
              <a:rPr lang="en-US" sz="1550" b="1" dirty="0">
                <a:solidFill>
                  <a:srgbClr val="2EC4B6"/>
                </a:solidFill>
                <a:latin typeface="Cambria" pitchFamily="34" charset="0"/>
                <a:ea typeface="Cambria" pitchFamily="34" charset="-122"/>
                <a:cs typeface="Cambria" pitchFamily="34" charset="-120"/>
              </a:rPr>
              <a:t>Animated</a:t>
            </a:r>
            <a:endParaRPr lang="en-US" sz="1550" dirty="0"/>
          </a:p>
        </p:txBody>
      </p:sp>
      <p:sp>
        <p:nvSpPr>
          <p:cNvPr id="16" name="Text 14"/>
          <p:cNvSpPr/>
          <p:nvPr/>
        </p:nvSpPr>
        <p:spPr>
          <a:xfrm>
            <a:off x="4631436" y="4434840"/>
            <a:ext cx="2926080" cy="1188720"/>
          </a:xfrm>
          <a:prstGeom prst="rect">
            <a:avLst/>
          </a:prstGeom>
          <a:noFill/>
          <a:ln/>
        </p:spPr>
        <p:txBody>
          <a:bodyPr wrap="square"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Stepped via requestAnimationFrame, paced by a time accumulator.</a:t>
            </a:r>
            <a:endParaRPr lang="en-US" sz="1200" dirty="0"/>
          </a:p>
        </p:txBody>
      </p:sp>
      <p:sp>
        <p:nvSpPr>
          <p:cNvPr id="17" name="Shape 15"/>
          <p:cNvSpPr/>
          <p:nvPr/>
        </p:nvSpPr>
        <p:spPr>
          <a:xfrm>
            <a:off x="6094476" y="3291840"/>
            <a:ext cx="3703320" cy="0"/>
          </a:xfrm>
          <a:prstGeom prst="line">
            <a:avLst/>
          </a:prstGeom>
          <a:noFill/>
          <a:ln w="19050">
            <a:solidFill>
              <a:srgbClr val="44518F"/>
            </a:solidFill>
            <a:prstDash val="solid"/>
          </a:ln>
        </p:spPr>
      </p:sp>
      <p:sp>
        <p:nvSpPr>
          <p:cNvPr id="18" name="Shape 16"/>
          <p:cNvSpPr/>
          <p:nvPr/>
        </p:nvSpPr>
        <p:spPr>
          <a:xfrm>
            <a:off x="9797796" y="3291840"/>
            <a:ext cx="0" cy="502920"/>
          </a:xfrm>
          <a:prstGeom prst="line">
            <a:avLst/>
          </a:prstGeom>
          <a:noFill/>
          <a:ln w="19050">
            <a:solidFill>
              <a:srgbClr val="44518F"/>
            </a:solidFill>
            <a:prstDash val="solid"/>
          </a:ln>
        </p:spPr>
      </p:sp>
      <p:sp>
        <p:nvSpPr>
          <p:cNvPr id="19" name="Shape 17"/>
          <p:cNvSpPr/>
          <p:nvPr/>
        </p:nvSpPr>
        <p:spPr>
          <a:xfrm>
            <a:off x="8106156" y="3794760"/>
            <a:ext cx="3383280" cy="1965960"/>
          </a:xfrm>
          <a:prstGeom prst="roundRect">
            <a:avLst>
              <a:gd name="adj" fmla="val 3721"/>
            </a:avLst>
          </a:prstGeom>
          <a:solidFill>
            <a:srgbClr val="141B4D"/>
          </a:solidFill>
          <a:ln/>
        </p:spPr>
      </p:sp>
      <p:sp>
        <p:nvSpPr>
          <p:cNvPr id="20" name="Text 18"/>
          <p:cNvSpPr/>
          <p:nvPr/>
        </p:nvSpPr>
        <p:spPr>
          <a:xfrm>
            <a:off x="8334756" y="3977640"/>
            <a:ext cx="2926080" cy="457200"/>
          </a:xfrm>
          <a:prstGeom prst="rect">
            <a:avLst/>
          </a:prstGeom>
          <a:noFill/>
          <a:ln/>
        </p:spPr>
        <p:txBody>
          <a:bodyPr wrap="square" rtlCol="0" anchor="ctr"/>
          <a:lstStyle/>
          <a:p>
            <a:pPr marL="0" indent="0">
              <a:buNone/>
            </a:pPr>
            <a:r>
              <a:rPr lang="en-US" sz="1550" b="1" dirty="0">
                <a:solidFill>
                  <a:srgbClr val="2EC4B6"/>
                </a:solidFill>
                <a:latin typeface="Cambria" pitchFamily="34" charset="0"/>
                <a:ea typeface="Cambria" pitchFamily="34" charset="-122"/>
                <a:cs typeface="Cambria" pitchFamily="34" charset="-120"/>
              </a:rPr>
              <a:t>Synchronized Comparison</a:t>
            </a:r>
            <a:endParaRPr lang="en-US" sz="1550" dirty="0"/>
          </a:p>
        </p:txBody>
      </p:sp>
      <p:sp>
        <p:nvSpPr>
          <p:cNvPr id="21" name="Text 19"/>
          <p:cNvSpPr/>
          <p:nvPr/>
        </p:nvSpPr>
        <p:spPr>
          <a:xfrm>
            <a:off x="8334756" y="4434840"/>
            <a:ext cx="2926080" cy="1188720"/>
          </a:xfrm>
          <a:prstGeom prst="rect">
            <a:avLst/>
          </a:prstGeom>
          <a:noFill/>
          <a:ln/>
        </p:spPr>
        <p:txBody>
          <a:bodyPr wrap="square"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Two generators stepped together in one handler — same-frame, by construction.</a:t>
            </a:r>
            <a:endParaRPr lang="en-US" sz="1200" dirty="0"/>
          </a:p>
        </p:txBody>
      </p:sp>
      <p:sp>
        <p:nvSpPr>
          <p:cNvPr id="22" name="Text 20"/>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Testing &amp; Quality</a:t>
            </a:r>
            <a:endParaRPr lang="en-US" sz="3000" dirty="0"/>
          </a:p>
        </p:txBody>
      </p:sp>
      <p:sp>
        <p:nvSpPr>
          <p:cNvPr id="3" name="Shape 1"/>
          <p:cNvSpPr/>
          <p:nvPr/>
        </p:nvSpPr>
        <p:spPr>
          <a:xfrm>
            <a:off x="790956" y="1783080"/>
            <a:ext cx="3291840" cy="1463040"/>
          </a:xfrm>
          <a:prstGeom prst="roundRect">
            <a:avLst>
              <a:gd name="adj" fmla="val 5000"/>
            </a:avLst>
          </a:prstGeom>
          <a:solidFill>
            <a:srgbClr val="F4F7FE"/>
          </a:solidFill>
          <a:ln/>
        </p:spPr>
      </p:sp>
      <p:sp>
        <p:nvSpPr>
          <p:cNvPr id="4" name="Text 2"/>
          <p:cNvSpPr/>
          <p:nvPr/>
        </p:nvSpPr>
        <p:spPr>
          <a:xfrm>
            <a:off x="790956" y="1874520"/>
            <a:ext cx="3291840" cy="777240"/>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56</a:t>
            </a:r>
            <a:endParaRPr lang="en-US" sz="4000" dirty="0"/>
          </a:p>
        </p:txBody>
      </p:sp>
      <p:sp>
        <p:nvSpPr>
          <p:cNvPr id="5" name="Text 3"/>
          <p:cNvSpPr/>
          <p:nvPr/>
        </p:nvSpPr>
        <p:spPr>
          <a:xfrm>
            <a:off x="790956" y="2606040"/>
            <a:ext cx="3291840" cy="457200"/>
          </a:xfrm>
          <a:prstGeom prst="rect">
            <a:avLst/>
          </a:prstGeom>
          <a:noFill/>
          <a:ln/>
        </p:spPr>
        <p:txBody>
          <a:bodyPr wrap="square" rtlCol="0" anchor="ctr"/>
          <a:lstStyle/>
          <a:p>
            <a:pPr marL="0" indent="0" algn="ctr">
              <a:buNone/>
            </a:pPr>
            <a:r>
              <a:rPr lang="en-US" sz="1300" dirty="0">
                <a:solidFill>
                  <a:srgbClr val="5B6280"/>
                </a:solidFill>
                <a:latin typeface="Calibri" pitchFamily="34" charset="0"/>
                <a:ea typeface="Calibri" pitchFamily="34" charset="-122"/>
                <a:cs typeface="Calibri" pitchFamily="34" charset="-120"/>
              </a:rPr>
              <a:t>Automated Tests</a:t>
            </a:r>
            <a:endParaRPr lang="en-US" sz="1300" dirty="0"/>
          </a:p>
        </p:txBody>
      </p:sp>
      <p:sp>
        <p:nvSpPr>
          <p:cNvPr id="6" name="Shape 4"/>
          <p:cNvSpPr/>
          <p:nvPr/>
        </p:nvSpPr>
        <p:spPr>
          <a:xfrm>
            <a:off x="4448556" y="1783080"/>
            <a:ext cx="3291840" cy="1463040"/>
          </a:xfrm>
          <a:prstGeom prst="roundRect">
            <a:avLst>
              <a:gd name="adj" fmla="val 5000"/>
            </a:avLst>
          </a:prstGeom>
          <a:solidFill>
            <a:srgbClr val="F4F7FE"/>
          </a:solidFill>
          <a:ln/>
        </p:spPr>
      </p:sp>
      <p:sp>
        <p:nvSpPr>
          <p:cNvPr id="7" name="Text 5"/>
          <p:cNvSpPr/>
          <p:nvPr/>
        </p:nvSpPr>
        <p:spPr>
          <a:xfrm>
            <a:off x="4448556" y="1874520"/>
            <a:ext cx="3291840" cy="777240"/>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5</a:t>
            </a:r>
            <a:endParaRPr lang="en-US" sz="4000" dirty="0"/>
          </a:p>
        </p:txBody>
      </p:sp>
      <p:sp>
        <p:nvSpPr>
          <p:cNvPr id="8" name="Text 6"/>
          <p:cNvSpPr/>
          <p:nvPr/>
        </p:nvSpPr>
        <p:spPr>
          <a:xfrm>
            <a:off x="4448556" y="2606040"/>
            <a:ext cx="3291840" cy="457200"/>
          </a:xfrm>
          <a:prstGeom prst="rect">
            <a:avLst/>
          </a:prstGeom>
          <a:noFill/>
          <a:ln/>
        </p:spPr>
        <p:txBody>
          <a:bodyPr wrap="square" rtlCol="0" anchor="ctr"/>
          <a:lstStyle/>
          <a:p>
            <a:pPr marL="0" indent="0" algn="ctr">
              <a:buNone/>
            </a:pPr>
            <a:r>
              <a:rPr lang="en-US" sz="1300" dirty="0">
                <a:solidFill>
                  <a:srgbClr val="5B6280"/>
                </a:solidFill>
                <a:latin typeface="Calibri" pitchFamily="34" charset="0"/>
                <a:ea typeface="Calibri" pitchFamily="34" charset="-122"/>
                <a:cs typeface="Calibri" pitchFamily="34" charset="-120"/>
              </a:rPr>
              <a:t>Test Files</a:t>
            </a:r>
            <a:endParaRPr lang="en-US" sz="1300" dirty="0"/>
          </a:p>
        </p:txBody>
      </p:sp>
      <p:sp>
        <p:nvSpPr>
          <p:cNvPr id="9" name="Shape 7"/>
          <p:cNvSpPr/>
          <p:nvPr/>
        </p:nvSpPr>
        <p:spPr>
          <a:xfrm>
            <a:off x="8106156" y="1783080"/>
            <a:ext cx="3291840" cy="1463040"/>
          </a:xfrm>
          <a:prstGeom prst="roundRect">
            <a:avLst>
              <a:gd name="adj" fmla="val 5000"/>
            </a:avLst>
          </a:prstGeom>
          <a:solidFill>
            <a:srgbClr val="F4F7FE"/>
          </a:solidFill>
          <a:ln/>
        </p:spPr>
      </p:sp>
      <p:sp>
        <p:nvSpPr>
          <p:cNvPr id="10" name="Text 8"/>
          <p:cNvSpPr/>
          <p:nvPr/>
        </p:nvSpPr>
        <p:spPr>
          <a:xfrm>
            <a:off x="8106156" y="1874520"/>
            <a:ext cx="3291840" cy="777240"/>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100%</a:t>
            </a:r>
            <a:endParaRPr lang="en-US" sz="4000" dirty="0"/>
          </a:p>
        </p:txBody>
      </p:sp>
      <p:sp>
        <p:nvSpPr>
          <p:cNvPr id="11" name="Text 9"/>
          <p:cNvSpPr/>
          <p:nvPr/>
        </p:nvSpPr>
        <p:spPr>
          <a:xfrm>
            <a:off x="8106156" y="2606040"/>
            <a:ext cx="3291840" cy="457200"/>
          </a:xfrm>
          <a:prstGeom prst="rect">
            <a:avLst/>
          </a:prstGeom>
          <a:noFill/>
          <a:ln/>
        </p:spPr>
        <p:txBody>
          <a:bodyPr wrap="square" rtlCol="0" anchor="ctr"/>
          <a:lstStyle/>
          <a:p>
            <a:pPr marL="0" indent="0" algn="ctr">
              <a:buNone/>
            </a:pPr>
            <a:r>
              <a:rPr lang="en-US" sz="1300" dirty="0">
                <a:solidFill>
                  <a:srgbClr val="5B6280"/>
                </a:solidFill>
                <a:latin typeface="Calibri" pitchFamily="34" charset="0"/>
                <a:ea typeface="Calibri" pitchFamily="34" charset="-122"/>
                <a:cs typeface="Calibri" pitchFamily="34" charset="-120"/>
              </a:rPr>
              <a:t>Passing</a:t>
            </a:r>
            <a:endParaRPr lang="en-US" sz="1300" dirty="0"/>
          </a:p>
        </p:txBody>
      </p:sp>
      <p:sp>
        <p:nvSpPr>
          <p:cNvPr id="12" name="Shape 10"/>
          <p:cNvSpPr/>
          <p:nvPr/>
        </p:nvSpPr>
        <p:spPr>
          <a:xfrm>
            <a:off x="640080" y="3703320"/>
            <a:ext cx="502920" cy="502920"/>
          </a:xfrm>
          <a:prstGeom prst="ellipse">
            <a:avLst/>
          </a:prstGeom>
          <a:solidFill>
            <a:srgbClr val="CADCFC"/>
          </a:solidFill>
          <a:ln/>
        </p:spPr>
      </p:sp>
      <p:pic>
        <p:nvPicPr>
          <p:cNvPr id="13" name="Image 0" descr="/home/claude/viva_ppt/icons/flask_navy.png"/>
          <p:cNvPicPr>
            <a:picLocks noChangeAspect="1"/>
          </p:cNvPicPr>
          <p:nvPr/>
        </p:nvPicPr>
        <p:blipFill>
          <a:blip r:embed="rId3"/>
          <a:stretch>
            <a:fillRect/>
          </a:stretch>
        </p:blipFill>
        <p:spPr>
          <a:xfrm>
            <a:off x="770839" y="3834079"/>
            <a:ext cx="241402" cy="241402"/>
          </a:xfrm>
          <a:prstGeom prst="rect">
            <a:avLst/>
          </a:prstGeom>
        </p:spPr>
      </p:pic>
      <p:sp>
        <p:nvSpPr>
          <p:cNvPr id="14" name="Text 11"/>
          <p:cNvSpPr/>
          <p:nvPr/>
        </p:nvSpPr>
        <p:spPr>
          <a:xfrm>
            <a:off x="1344168" y="3675888"/>
            <a:ext cx="450799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Automated Suite</a:t>
            </a:r>
            <a:endParaRPr lang="en-US" sz="1500" dirty="0"/>
          </a:p>
        </p:txBody>
      </p:sp>
      <p:sp>
        <p:nvSpPr>
          <p:cNvPr id="15" name="Text 12"/>
          <p:cNvSpPr/>
          <p:nvPr/>
        </p:nvSpPr>
        <p:spPr>
          <a:xfrm>
            <a:off x="1344168" y="3959352"/>
            <a:ext cx="4507992" cy="118872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Every property that's pure logic — independent of the DOM or mouse events — is covered by Vitest: maze connectivity, BFS/Dijkstra agreement, A* ≤ Dijkstra, graceful no-path handling.</a:t>
            </a:r>
            <a:endParaRPr lang="en-US" sz="1250" dirty="0"/>
          </a:p>
        </p:txBody>
      </p:sp>
      <p:sp>
        <p:nvSpPr>
          <p:cNvPr id="16" name="Shape 13"/>
          <p:cNvSpPr/>
          <p:nvPr/>
        </p:nvSpPr>
        <p:spPr>
          <a:xfrm>
            <a:off x="6309360" y="3703320"/>
            <a:ext cx="502920" cy="502920"/>
          </a:xfrm>
          <a:prstGeom prst="ellipse">
            <a:avLst/>
          </a:prstGeom>
          <a:solidFill>
            <a:srgbClr val="CADCFC"/>
          </a:solidFill>
          <a:ln/>
        </p:spPr>
      </p:sp>
      <p:pic>
        <p:nvPicPr>
          <p:cNvPr id="17" name="Image 1" descr="/home/claude/viva_ppt/icons/clipboard_navy.png"/>
          <p:cNvPicPr>
            <a:picLocks noChangeAspect="1"/>
          </p:cNvPicPr>
          <p:nvPr/>
        </p:nvPicPr>
        <p:blipFill>
          <a:blip r:embed="rId4"/>
          <a:stretch>
            <a:fillRect/>
          </a:stretch>
        </p:blipFill>
        <p:spPr>
          <a:xfrm>
            <a:off x="6440119" y="3834079"/>
            <a:ext cx="241402" cy="241402"/>
          </a:xfrm>
          <a:prstGeom prst="rect">
            <a:avLst/>
          </a:prstGeom>
        </p:spPr>
      </p:pic>
      <p:sp>
        <p:nvSpPr>
          <p:cNvPr id="18" name="Text 14"/>
          <p:cNvSpPr/>
          <p:nvPr/>
        </p:nvSpPr>
        <p:spPr>
          <a:xfrm>
            <a:off x="7013448" y="3675888"/>
            <a:ext cx="4507992" cy="292608"/>
          </a:xfrm>
          <a:prstGeom prst="rect">
            <a:avLst/>
          </a:prstGeom>
          <a:noFill/>
          <a:ln/>
        </p:spPr>
        <p:txBody>
          <a:bodyPr wrap="square"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Manual Checklist</a:t>
            </a:r>
            <a:endParaRPr lang="en-US" sz="1500" dirty="0"/>
          </a:p>
        </p:txBody>
      </p:sp>
      <p:sp>
        <p:nvSpPr>
          <p:cNvPr id="19" name="Text 15"/>
          <p:cNvSpPr/>
          <p:nvPr/>
        </p:nvSpPr>
        <p:spPr>
          <a:xfrm>
            <a:off x="7013448" y="3959352"/>
            <a:ext cx="4507992" cy="1188720"/>
          </a:xfrm>
          <a:prstGeom prst="rect">
            <a:avLst/>
          </a:prstGeom>
          <a:noFill/>
          <a:ln/>
        </p:spPr>
        <p:txBody>
          <a:bodyPr wrap="square" rtlCol="0" anchor="t"/>
          <a:lstStyle/>
          <a:p>
            <a:pPr marL="0" indent="0">
              <a:lnSpc>
                <a:spcPct val="108000"/>
              </a:lnSpc>
              <a:buNone/>
            </a:pPr>
            <a:r>
              <a:rPr lang="en-US" sz="1250" dirty="0">
                <a:solidFill>
                  <a:srgbClr val="1B1F3B"/>
                </a:solidFill>
                <a:latin typeface="Calibri" pitchFamily="34" charset="0"/>
                <a:ea typeface="Calibri" pitchFamily="34" charset="-122"/>
                <a:cs typeface="Calibri" pitchFamily="34" charset="-120"/>
              </a:rPr>
              <a:t>Browser-dependent behaviour — wall dragging, layout at narrow widths, keyboard focus — is covered by a structured manual checklist instead.</a:t>
            </a:r>
            <a:endParaRPr lang="en-US" sz="1250" dirty="0"/>
          </a:p>
        </p:txBody>
      </p:sp>
      <p:sp>
        <p:nvSpPr>
          <p:cNvPr id="20" name="Text 16"/>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rtlCol="0" anchor="t"/>
          <a:lstStyle/>
          <a:p>
            <a:pPr marL="0" indent="0" algn="l">
              <a:buNone/>
            </a:pPr>
            <a:r>
              <a:rPr lang="en-US" sz="2800" b="1" dirty="0">
                <a:solidFill>
                  <a:srgbClr val="1E2761"/>
                </a:solidFill>
                <a:latin typeface="Cambria" pitchFamily="34" charset="0"/>
                <a:ea typeface="Cambria" pitchFamily="34" charset="-122"/>
                <a:cs typeface="Cambria" pitchFamily="34" charset="-120"/>
              </a:rPr>
              <a:t>Results: Algorithm Comparison</a:t>
            </a:r>
            <a:endParaRPr lang="en-US" sz="2800" dirty="0"/>
          </a:p>
        </p:txBody>
      </p:sp>
      <p:sp>
        <p:nvSpPr>
          <p:cNvPr id="3" name="Text 1"/>
          <p:cNvSpPr/>
          <p:nvPr/>
        </p:nvSpPr>
        <p:spPr>
          <a:xfrm>
            <a:off x="548640" y="105156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Same 30×30 generated maze, identical start and end, all four algorithms.</a:t>
            </a:r>
            <a:endParaRPr lang="en-US" sz="1350" dirty="0"/>
          </a:p>
        </p:txBody>
      </p:sp>
      <p:sp>
        <p:nvSpPr>
          <p:cNvPr id="4" name="Shape 2"/>
          <p:cNvSpPr/>
          <p:nvPr/>
        </p:nvSpPr>
        <p:spPr>
          <a:xfrm>
            <a:off x="822960" y="1600200"/>
            <a:ext cx="7360920" cy="4526280"/>
          </a:xfrm>
          <a:prstGeom prst="roundRect">
            <a:avLst>
              <a:gd name="adj" fmla="val 1212"/>
            </a:avLst>
          </a:prstGeom>
          <a:solidFill>
            <a:srgbClr val="F4F7FE"/>
          </a:solidFill>
          <a:ln/>
        </p:spPr>
      </p:sp>
      <p:pic>
        <p:nvPicPr>
          <p:cNvPr id="5" name="Image 0" descr="/home/claude/viva_ppt/chart1.png"/>
          <p:cNvPicPr>
            <a:picLocks noChangeAspect="1"/>
          </p:cNvPicPr>
          <p:nvPr/>
        </p:nvPicPr>
        <p:blipFill>
          <a:blip r:embed="rId3"/>
          <a:stretch>
            <a:fillRect/>
          </a:stretch>
        </p:blipFill>
        <p:spPr>
          <a:xfrm>
            <a:off x="1051560" y="1828800"/>
            <a:ext cx="6903720" cy="4169664"/>
          </a:xfrm>
          <a:prstGeom prst="rect">
            <a:avLst/>
          </a:prstGeom>
        </p:spPr>
      </p:pic>
      <p:sp>
        <p:nvSpPr>
          <p:cNvPr id="6" name="Shape 3"/>
          <p:cNvSpPr/>
          <p:nvPr/>
        </p:nvSpPr>
        <p:spPr>
          <a:xfrm>
            <a:off x="8412480" y="1600200"/>
            <a:ext cx="2971800" cy="4526280"/>
          </a:xfrm>
          <a:prstGeom prst="roundRect">
            <a:avLst>
              <a:gd name="adj" fmla="val 2462"/>
            </a:avLst>
          </a:prstGeom>
          <a:solidFill>
            <a:srgbClr val="1E2761"/>
          </a:solidFill>
          <a:ln/>
        </p:spPr>
      </p:sp>
      <p:sp>
        <p:nvSpPr>
          <p:cNvPr id="7" name="Text 4"/>
          <p:cNvSpPr/>
          <p:nvPr/>
        </p:nvSpPr>
        <p:spPr>
          <a:xfrm>
            <a:off x="8686800" y="1874520"/>
            <a:ext cx="2423160" cy="210312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All 4 found the </a:t>
            </a:r>
            <a:r>
              <a:rPr lang="en-US" sz="1250" b="1" dirty="0">
                <a:solidFill>
                  <a:srgbClr val="2EC4B6"/>
                </a:solidFill>
                <a:latin typeface="Calibri" pitchFamily="34" charset="0"/>
                <a:ea typeface="Calibri" pitchFamily="34" charset="-122"/>
                <a:cs typeface="Calibri" pitchFamily="34" charset="-120"/>
              </a:rPr>
              <a:t>same 141-cell path</a:t>
            </a:r>
            <a:r>
              <a:rPr lang="en-US" sz="1250" dirty="0">
                <a:solidFill>
                  <a:srgbClr val="FFFFFF"/>
                </a:solidFill>
                <a:latin typeface="Calibri" pitchFamily="34" charset="0"/>
                <a:ea typeface="Calibri" pitchFamily="34" charset="-122"/>
                <a:cs typeface="Calibri" pitchFamily="34" charset="-120"/>
              </a:rPr>
              <a:t> — a maze is a spanning tree, so there's only one route to find.</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They differ only in </a:t>
            </a:r>
            <a:r>
              <a:rPr lang="en-US" sz="1250" b="1" dirty="0">
                <a:solidFill>
                  <a:srgbClr val="2EC4B6"/>
                </a:solidFill>
                <a:latin typeface="Calibri" pitchFamily="34" charset="0"/>
                <a:ea typeface="Calibri" pitchFamily="34" charset="-122"/>
                <a:cs typeface="Calibri" pitchFamily="34" charset="-120"/>
              </a:rPr>
              <a:t>how much they explored</a:t>
            </a:r>
            <a:r>
              <a:rPr lang="en-US" sz="1250" dirty="0">
                <a:solidFill>
                  <a:srgbClr val="FFFFFF"/>
                </a:solidFill>
                <a:latin typeface="Calibri" pitchFamily="34" charset="0"/>
                <a:ea typeface="Calibri" pitchFamily="34" charset="-122"/>
                <a:cs typeface="Calibri" pitchFamily="34" charset="-120"/>
              </a:rPr>
              <a:t> on the way there:</a:t>
            </a:r>
            <a:endParaRPr lang="en-US" sz="1250" dirty="0"/>
          </a:p>
        </p:txBody>
      </p:sp>
      <p:sp>
        <p:nvSpPr>
          <p:cNvPr id="8" name="Text 5"/>
          <p:cNvSpPr/>
          <p:nvPr/>
        </p:nvSpPr>
        <p:spPr>
          <a:xfrm>
            <a:off x="8686800" y="4114800"/>
            <a:ext cx="2423160" cy="274320"/>
          </a:xfrm>
          <a:prstGeom prst="rect">
            <a:avLst/>
          </a:prstGeom>
          <a:noFill/>
          <a:ln/>
        </p:spPr>
        <p:txBody>
          <a:bodyPr wrap="square" rtlCol="0" anchor="ctr"/>
          <a:lstStyle/>
          <a:p>
            <a:pPr marL="0" indent="0">
              <a:buNone/>
            </a:pPr>
            <a:r>
              <a:rPr lang="en-US" sz="1250" b="1" dirty="0">
                <a:solidFill>
                  <a:srgbClr val="2EC4B6"/>
                </a:solidFill>
                <a:latin typeface="Calibri" pitchFamily="34" charset="0"/>
                <a:ea typeface="Calibri" pitchFamily="34" charset="-122"/>
                <a:cs typeface="Calibri" pitchFamily="34" charset="-120"/>
              </a:rPr>
              <a:t>A*</a:t>
            </a:r>
            <a:endParaRPr lang="en-US" sz="1250" dirty="0"/>
          </a:p>
        </p:txBody>
      </p:sp>
      <p:sp>
        <p:nvSpPr>
          <p:cNvPr id="9" name="Text 6"/>
          <p:cNvSpPr/>
          <p:nvPr/>
        </p:nvSpPr>
        <p:spPr>
          <a:xfrm>
            <a:off x="8686800" y="4370832"/>
            <a:ext cx="2423160" cy="2743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177 nodes — fewest</a:t>
            </a:r>
            <a:endParaRPr lang="en-US" sz="1150" dirty="0"/>
          </a:p>
        </p:txBody>
      </p:sp>
      <p:sp>
        <p:nvSpPr>
          <p:cNvPr id="10" name="Text 7"/>
          <p:cNvSpPr/>
          <p:nvPr/>
        </p:nvSpPr>
        <p:spPr>
          <a:xfrm>
            <a:off x="8686800" y="4773168"/>
            <a:ext cx="2423160" cy="274320"/>
          </a:xfrm>
          <a:prstGeom prst="rect">
            <a:avLst/>
          </a:prstGeom>
          <a:noFill/>
          <a:ln/>
        </p:spPr>
        <p:txBody>
          <a:bodyPr wrap="square" rtlCol="0" anchor="ctr"/>
          <a:lstStyle/>
          <a:p>
            <a:pPr marL="0" indent="0">
              <a:buNone/>
            </a:pPr>
            <a:r>
              <a:rPr lang="en-US" sz="1250" b="1" dirty="0">
                <a:solidFill>
                  <a:srgbClr val="2EC4B6"/>
                </a:solidFill>
                <a:latin typeface="Calibri" pitchFamily="34" charset="0"/>
                <a:ea typeface="Calibri" pitchFamily="34" charset="-122"/>
                <a:cs typeface="Calibri" pitchFamily="34" charset="-120"/>
              </a:rPr>
              <a:t>BFS / Dijkstra</a:t>
            </a:r>
            <a:endParaRPr lang="en-US" sz="1250" dirty="0"/>
          </a:p>
        </p:txBody>
      </p:sp>
      <p:sp>
        <p:nvSpPr>
          <p:cNvPr id="11" name="Text 8"/>
          <p:cNvSpPr/>
          <p:nvPr/>
        </p:nvSpPr>
        <p:spPr>
          <a:xfrm>
            <a:off x="8686800" y="5029200"/>
            <a:ext cx="2423160" cy="2743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203 nodes — tied</a:t>
            </a:r>
            <a:endParaRPr lang="en-US" sz="1150" dirty="0"/>
          </a:p>
        </p:txBody>
      </p:sp>
      <p:sp>
        <p:nvSpPr>
          <p:cNvPr id="12" name="Text 9"/>
          <p:cNvSpPr/>
          <p:nvPr/>
        </p:nvSpPr>
        <p:spPr>
          <a:xfrm>
            <a:off x="8686800" y="5431536"/>
            <a:ext cx="2423160" cy="274320"/>
          </a:xfrm>
          <a:prstGeom prst="rect">
            <a:avLst/>
          </a:prstGeom>
          <a:noFill/>
          <a:ln/>
        </p:spPr>
        <p:txBody>
          <a:bodyPr wrap="square" rtlCol="0" anchor="ctr"/>
          <a:lstStyle/>
          <a:p>
            <a:pPr marL="0" indent="0">
              <a:buNone/>
            </a:pPr>
            <a:r>
              <a:rPr lang="en-US" sz="1250" b="1" dirty="0">
                <a:solidFill>
                  <a:srgbClr val="2EC4B6"/>
                </a:solidFill>
                <a:latin typeface="Calibri" pitchFamily="34" charset="0"/>
                <a:ea typeface="Calibri" pitchFamily="34" charset="-122"/>
                <a:cs typeface="Calibri" pitchFamily="34" charset="-120"/>
              </a:rPr>
              <a:t>DFS</a:t>
            </a:r>
            <a:endParaRPr lang="en-US" sz="1250" dirty="0"/>
          </a:p>
        </p:txBody>
      </p:sp>
      <p:sp>
        <p:nvSpPr>
          <p:cNvPr id="13" name="Text 10"/>
          <p:cNvSpPr/>
          <p:nvPr/>
        </p:nvSpPr>
        <p:spPr>
          <a:xfrm>
            <a:off x="8686800" y="5687568"/>
            <a:ext cx="2423160" cy="2743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317 nodes — most</a:t>
            </a:r>
            <a:endParaRPr lang="en-US" sz="1150" dirty="0"/>
          </a:p>
        </p:txBody>
      </p:sp>
      <p:sp>
        <p:nvSpPr>
          <p:cNvPr id="14" name="Text 11"/>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rtlCol="0" anchor="t"/>
          <a:lstStyle/>
          <a:p>
            <a:pPr marL="0" indent="0" algn="l">
              <a:buNone/>
            </a:pPr>
            <a:r>
              <a:rPr lang="en-US" sz="2800" b="1" dirty="0">
                <a:solidFill>
                  <a:srgbClr val="1E2761"/>
                </a:solidFill>
                <a:latin typeface="Cambria" pitchFamily="34" charset="0"/>
                <a:ea typeface="Cambria" pitchFamily="34" charset="-122"/>
                <a:cs typeface="Cambria" pitchFamily="34" charset="-120"/>
              </a:rPr>
              <a:t>Results: Weighted Terrain</a:t>
            </a:r>
            <a:endParaRPr lang="en-US" sz="2800" dirty="0"/>
          </a:p>
        </p:txBody>
      </p:sp>
      <p:sp>
        <p:nvSpPr>
          <p:cNvPr id="3" name="Text 1"/>
          <p:cNvSpPr/>
          <p:nvPr/>
        </p:nvSpPr>
        <p:spPr>
          <a:xfrm>
            <a:off x="548640" y="105156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A small open grid with one weighted “mud” cell directly on the shortest route.</a:t>
            </a:r>
            <a:endParaRPr lang="en-US" sz="1350" dirty="0"/>
          </a:p>
        </p:txBody>
      </p:sp>
      <p:sp>
        <p:nvSpPr>
          <p:cNvPr id="4" name="Shape 2"/>
          <p:cNvSpPr/>
          <p:nvPr/>
        </p:nvSpPr>
        <p:spPr>
          <a:xfrm>
            <a:off x="822960" y="1600200"/>
            <a:ext cx="7360920" cy="4526280"/>
          </a:xfrm>
          <a:prstGeom prst="roundRect">
            <a:avLst>
              <a:gd name="adj" fmla="val 1212"/>
            </a:avLst>
          </a:prstGeom>
          <a:solidFill>
            <a:srgbClr val="F4F7FE"/>
          </a:solidFill>
          <a:ln/>
        </p:spPr>
      </p:sp>
      <p:pic>
        <p:nvPicPr>
          <p:cNvPr id="5" name="Image 0" descr="/home/claude/viva_ppt/chart2.png"/>
          <p:cNvPicPr>
            <a:picLocks noChangeAspect="1"/>
          </p:cNvPicPr>
          <p:nvPr/>
        </p:nvPicPr>
        <p:blipFill>
          <a:blip r:embed="rId3"/>
          <a:stretch>
            <a:fillRect/>
          </a:stretch>
        </p:blipFill>
        <p:spPr>
          <a:xfrm>
            <a:off x="1051560" y="1965960"/>
            <a:ext cx="6903720" cy="4059936"/>
          </a:xfrm>
          <a:prstGeom prst="rect">
            <a:avLst/>
          </a:prstGeom>
        </p:spPr>
      </p:pic>
      <p:sp>
        <p:nvSpPr>
          <p:cNvPr id="6" name="Shape 3"/>
          <p:cNvSpPr/>
          <p:nvPr/>
        </p:nvSpPr>
        <p:spPr>
          <a:xfrm>
            <a:off x="8412480" y="1600200"/>
            <a:ext cx="2971800" cy="4526280"/>
          </a:xfrm>
          <a:prstGeom prst="roundRect">
            <a:avLst>
              <a:gd name="adj" fmla="val 2462"/>
            </a:avLst>
          </a:prstGeom>
          <a:solidFill>
            <a:srgbClr val="1E2761"/>
          </a:solidFill>
          <a:ln/>
        </p:spPr>
      </p:sp>
      <p:sp>
        <p:nvSpPr>
          <p:cNvPr id="7" name="Text 4"/>
          <p:cNvSpPr/>
          <p:nvPr/>
        </p:nvSpPr>
        <p:spPr>
          <a:xfrm>
            <a:off x="8686800" y="1874520"/>
            <a:ext cx="2423160" cy="3931920"/>
          </a:xfrm>
          <a:prstGeom prst="rect">
            <a:avLst/>
          </a:prstGeom>
          <a:noFill/>
          <a:ln/>
        </p:spPr>
        <p:txBody>
          <a:bodyPr wrap="square" rtlCol="0" anchor="t"/>
          <a:lstStyle/>
          <a:p>
            <a:pPr marL="0" indent="0">
              <a:lnSpc>
                <a:spcPct val="130000"/>
              </a:lnSpc>
              <a:buNone/>
            </a:pPr>
            <a:r>
              <a:rPr lang="en-US" sz="1250" b="1" dirty="0">
                <a:solidFill>
                  <a:srgbClr val="2EC4B6"/>
                </a:solidFill>
                <a:latin typeface="Calibri" pitchFamily="34" charset="0"/>
                <a:ea typeface="Calibri" pitchFamily="34" charset="-122"/>
                <a:cs typeface="Calibri" pitchFamily="34" charset="-120"/>
              </a:rPr>
              <a:t>BFS</a:t>
            </a:r>
            <a:r>
              <a:rPr lang="en-US" sz="1250" dirty="0">
                <a:solidFill>
                  <a:srgbClr val="FFFFFF"/>
                </a:solidFill>
                <a:latin typeface="Calibri" pitchFamily="34" charset="0"/>
                <a:ea typeface="Calibri" pitchFamily="34" charset="-122"/>
                <a:cs typeface="Calibri" pitchFamily="34" charset="-120"/>
              </a:rPr>
              <a:t> has no concept of weight — it drives straight through the mud at </a:t>
            </a:r>
            <a:r>
              <a:rPr lang="en-US" sz="1250" b="1" dirty="0">
                <a:solidFill>
                  <a:srgbClr val="FFFFFF"/>
                </a:solidFill>
                <a:latin typeface="Calibri" pitchFamily="34" charset="0"/>
                <a:ea typeface="Calibri" pitchFamily="34" charset="-122"/>
                <a:cs typeface="Calibri" pitchFamily="34" charset="-120"/>
              </a:rPr>
              <a:t>cost 8</a:t>
            </a:r>
            <a:r>
              <a:rPr lang="en-US" sz="1250" dirty="0">
                <a:solidFill>
                  <a:srgbClr val="FFFFFF"/>
                </a:solidFill>
                <a:latin typeface="Calibri" pitchFamily="34" charset="0"/>
                <a:ea typeface="Calibri" pitchFamily="34" charset="-122"/>
                <a:cs typeface="Calibri" pitchFamily="34" charset="-120"/>
              </a:rPr>
              <a:t>.</a:t>
            </a:r>
            <a:endParaRPr lang="en-US" sz="1250" dirty="0"/>
          </a:p>
          <a:p>
            <a:pPr marL="0" indent="0">
              <a:lnSpc>
                <a:spcPct val="130000"/>
              </a:lnSpc>
              <a:buNone/>
            </a:pPr>
            <a:r>
              <a:rPr lang="en-US" sz="1250" b="1" dirty="0">
                <a:solidFill>
                  <a:srgbClr val="2EC4B6"/>
                </a:solidFill>
                <a:latin typeface="Calibri" pitchFamily="34" charset="0"/>
                <a:ea typeface="Calibri" pitchFamily="34" charset="-122"/>
                <a:cs typeface="Calibri" pitchFamily="34" charset="-120"/>
              </a:rPr>
              <a:t>Dijkstra &amp; A*</a:t>
            </a:r>
            <a:r>
              <a:rPr lang="en-US" sz="1250" dirty="0">
                <a:solidFill>
                  <a:srgbClr val="FFFFFF"/>
                </a:solidFill>
                <a:latin typeface="Calibri" pitchFamily="34" charset="0"/>
                <a:ea typeface="Calibri" pitchFamily="34" charset="-122"/>
                <a:cs typeface="Calibri" pitchFamily="34" charset="-120"/>
              </a:rPr>
              <a:t> both route around it for a lower total cost of </a:t>
            </a:r>
            <a:r>
              <a:rPr lang="en-US" sz="1250" b="1" dirty="0">
                <a:solidFill>
                  <a:srgbClr val="FFFFFF"/>
                </a:solidFill>
                <a:latin typeface="Calibri" pitchFamily="34" charset="0"/>
                <a:ea typeface="Calibri" pitchFamily="34" charset="-122"/>
                <a:cs typeface="Calibri" pitchFamily="34" charset="-120"/>
              </a:rPr>
              <a:t>6</a:t>
            </a:r>
            <a:r>
              <a:rPr lang="en-US" sz="1250" dirty="0">
                <a:solidFill>
                  <a:srgbClr val="FFFFFF"/>
                </a:solidFill>
                <a:latin typeface="Calibri" pitchFamily="34" charset="0"/>
                <a:ea typeface="Calibri" pitchFamily="34" charset="-122"/>
                <a:cs typeface="Calibri" pitchFamily="34" charset="-120"/>
              </a:rPr>
              <a:t>.</a:t>
            </a:r>
            <a:endParaRPr lang="en-US" sz="1250" dirty="0"/>
          </a:p>
          <a:p>
            <a:pPr marL="0" indent="0">
              <a:lnSpc>
                <a:spcPct val="130000"/>
              </a:lnSpc>
              <a:buNone/>
            </a:pPr>
            <a:r>
              <a:rPr lang="en-US" sz="1250" i="1" dirty="0">
                <a:solidFill>
                  <a:srgbClr val="FFFFFF"/>
                </a:solidFill>
                <a:latin typeface="Calibri" pitchFamily="34" charset="0"/>
                <a:ea typeface="Calibri" pitchFamily="34" charset="-122"/>
                <a:cs typeface="Calibri" pitchFamily="34" charset="-120"/>
              </a:rPr>
              <a:t>This is the behavioural divergence weighted terrain was built to make visible.</a:t>
            </a:r>
            <a:endParaRPr lang="en-US" sz="1250" dirty="0"/>
          </a:p>
        </p:txBody>
      </p:sp>
      <p:sp>
        <p:nvSpPr>
          <p:cNvPr id="8" name="Text 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640080" y="1920240"/>
            <a:ext cx="128016" cy="128016"/>
          </a:xfrm>
          <a:prstGeom prst="ellipse">
            <a:avLst/>
          </a:prstGeom>
          <a:solidFill>
            <a:srgbClr val="2EC4B6"/>
          </a:solidFill>
          <a:ln/>
        </p:spPr>
      </p:sp>
      <p:sp>
        <p:nvSpPr>
          <p:cNvPr id="4" name="Text 2"/>
          <p:cNvSpPr/>
          <p:nvPr/>
        </p:nvSpPr>
        <p:spPr>
          <a:xfrm>
            <a:off x="1005840" y="1737360"/>
            <a:ext cx="10515600" cy="822960"/>
          </a:xfrm>
          <a:prstGeom prst="rect">
            <a:avLst/>
          </a:prstGeom>
          <a:noFill/>
          <a:ln/>
        </p:spPr>
        <p:txBody>
          <a:bodyPr wrap="square" rtlCol="0" anchor="t"/>
          <a:lstStyle/>
          <a:p>
            <a:pPr marL="0" indent="0">
              <a:lnSpc>
                <a:spcPct val="120000"/>
              </a:lnSpc>
              <a:buNone/>
            </a:pPr>
            <a:r>
              <a:rPr lang="en-US" sz="1700" dirty="0">
                <a:solidFill>
                  <a:srgbClr val="FFFFFF"/>
                </a:solidFill>
                <a:latin typeface="Calibri" pitchFamily="34" charset="0"/>
                <a:ea typeface="Calibri" pitchFamily="34" charset="-122"/>
                <a:cs typeface="Calibri" pitchFamily="34" charset="-120"/>
              </a:rPr>
              <a:t>BFS and Dijkstra agree exactly on unweighted grids — verified, not assumed.</a:t>
            </a:r>
            <a:endParaRPr lang="en-US" sz="1700" dirty="0"/>
          </a:p>
        </p:txBody>
      </p:sp>
      <p:sp>
        <p:nvSpPr>
          <p:cNvPr id="5" name="Shape 3"/>
          <p:cNvSpPr/>
          <p:nvPr/>
        </p:nvSpPr>
        <p:spPr>
          <a:xfrm>
            <a:off x="640080" y="2971800"/>
            <a:ext cx="128016" cy="128016"/>
          </a:xfrm>
          <a:prstGeom prst="ellipse">
            <a:avLst/>
          </a:prstGeom>
          <a:solidFill>
            <a:srgbClr val="2EC4B6"/>
          </a:solidFill>
          <a:ln/>
        </p:spPr>
      </p:sp>
      <p:sp>
        <p:nvSpPr>
          <p:cNvPr id="6" name="Text 4"/>
          <p:cNvSpPr/>
          <p:nvPr/>
        </p:nvSpPr>
        <p:spPr>
          <a:xfrm>
            <a:off x="1005840" y="2788920"/>
            <a:ext cx="10515600" cy="822960"/>
          </a:xfrm>
          <a:prstGeom prst="rect">
            <a:avLst/>
          </a:prstGeom>
          <a:noFill/>
          <a:ln/>
        </p:spPr>
        <p:txBody>
          <a:bodyPr wrap="square" rtlCol="0" anchor="t"/>
          <a:lstStyle/>
          <a:p>
            <a:pPr marL="0" indent="0">
              <a:lnSpc>
                <a:spcPct val="120000"/>
              </a:lnSpc>
              <a:buNone/>
            </a:pPr>
            <a:r>
              <a:rPr lang="en-US" sz="1700" dirty="0">
                <a:solidFill>
                  <a:srgbClr val="FFFFFF"/>
                </a:solidFill>
                <a:latin typeface="Calibri" pitchFamily="34" charset="0"/>
                <a:ea typeface="Calibri" pitchFamily="34" charset="-122"/>
                <a:cs typeface="Calibri" pitchFamily="34" charset="-120"/>
              </a:rPr>
              <a:t>They genuinely diverge once weighted terrain is introduced.</a:t>
            </a:r>
            <a:endParaRPr lang="en-US" sz="1700" dirty="0"/>
          </a:p>
        </p:txBody>
      </p:sp>
      <p:sp>
        <p:nvSpPr>
          <p:cNvPr id="7" name="Shape 5"/>
          <p:cNvSpPr/>
          <p:nvPr/>
        </p:nvSpPr>
        <p:spPr>
          <a:xfrm>
            <a:off x="640080" y="4023360"/>
            <a:ext cx="128016" cy="128016"/>
          </a:xfrm>
          <a:prstGeom prst="ellipse">
            <a:avLst/>
          </a:prstGeom>
          <a:solidFill>
            <a:srgbClr val="2EC4B6"/>
          </a:solidFill>
          <a:ln/>
        </p:spPr>
      </p:sp>
      <p:sp>
        <p:nvSpPr>
          <p:cNvPr id="8" name="Text 6"/>
          <p:cNvSpPr/>
          <p:nvPr/>
        </p:nvSpPr>
        <p:spPr>
          <a:xfrm>
            <a:off x="1005840" y="3840480"/>
            <a:ext cx="10515600" cy="822960"/>
          </a:xfrm>
          <a:prstGeom prst="rect">
            <a:avLst/>
          </a:prstGeom>
          <a:noFill/>
          <a:ln/>
        </p:spPr>
        <p:txBody>
          <a:bodyPr wrap="square" rtlCol="0" anchor="t"/>
          <a:lstStyle/>
          <a:p>
            <a:pPr marL="0" indent="0">
              <a:lnSpc>
                <a:spcPct val="120000"/>
              </a:lnSpc>
              <a:buNone/>
            </a:pPr>
            <a:r>
              <a:rPr lang="en-US" sz="1700" dirty="0">
                <a:solidFill>
                  <a:srgbClr val="FFFFFF"/>
                </a:solidFill>
                <a:latin typeface="Calibri" pitchFamily="34" charset="0"/>
                <a:ea typeface="Calibri" pitchFamily="34" charset="-122"/>
                <a:cs typeface="Calibri" pitchFamily="34" charset="-120"/>
              </a:rPr>
              <a:t>A* never explores more nodes than Dijkstra, while finding an equally optimal path.</a:t>
            </a:r>
            <a:endParaRPr lang="en-US" sz="1700" dirty="0"/>
          </a:p>
        </p:txBody>
      </p:sp>
      <p:sp>
        <p:nvSpPr>
          <p:cNvPr id="9" name="Shape 7"/>
          <p:cNvSpPr/>
          <p:nvPr/>
        </p:nvSpPr>
        <p:spPr>
          <a:xfrm>
            <a:off x="640080" y="5074920"/>
            <a:ext cx="128016" cy="128016"/>
          </a:xfrm>
          <a:prstGeom prst="ellipse">
            <a:avLst/>
          </a:prstGeom>
          <a:solidFill>
            <a:srgbClr val="2EC4B6"/>
          </a:solidFill>
          <a:ln/>
        </p:spPr>
      </p:sp>
      <p:sp>
        <p:nvSpPr>
          <p:cNvPr id="10" name="Text 8"/>
          <p:cNvSpPr/>
          <p:nvPr/>
        </p:nvSpPr>
        <p:spPr>
          <a:xfrm>
            <a:off x="1005840" y="4892040"/>
            <a:ext cx="10515600" cy="822960"/>
          </a:xfrm>
          <a:prstGeom prst="rect">
            <a:avLst/>
          </a:prstGeom>
          <a:noFill/>
          <a:ln/>
        </p:spPr>
        <p:txBody>
          <a:bodyPr wrap="square" rtlCol="0" anchor="t"/>
          <a:lstStyle/>
          <a:p>
            <a:pPr marL="0" indent="0">
              <a:lnSpc>
                <a:spcPct val="120000"/>
              </a:lnSpc>
              <a:buNone/>
            </a:pPr>
            <a:r>
              <a:rPr lang="en-US" sz="1700" dirty="0">
                <a:solidFill>
                  <a:srgbClr val="FFFFFF"/>
                </a:solidFill>
                <a:latin typeface="Calibri" pitchFamily="34" charset="0"/>
                <a:ea typeface="Calibri" pitchFamily="34" charset="-122"/>
                <a:cs typeface="Calibri" pitchFamily="34" charset="-120"/>
              </a:rPr>
              <a:t>Every claim above is checked by the automated suite across randomized inputs — not only the single runs charted here.</a:t>
            </a:r>
            <a:endParaRPr lang="en-US" sz="17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Limitations</a:t>
            </a:r>
            <a:endParaRPr lang="en-US" sz="3000" dirty="0"/>
          </a:p>
        </p:txBody>
      </p:sp>
      <p:sp>
        <p:nvSpPr>
          <p:cNvPr id="3" name="Text 1"/>
          <p:cNvSpPr/>
          <p:nvPr/>
        </p:nvSpPr>
        <p:spPr>
          <a:xfrm>
            <a:off x="548640" y="109728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Stated plainly, not glossed over.</a:t>
            </a:r>
            <a:endParaRPr lang="en-US" sz="1350" dirty="0"/>
          </a:p>
        </p:txBody>
      </p:sp>
      <p:sp>
        <p:nvSpPr>
          <p:cNvPr id="4" name="Shape 2"/>
          <p:cNvSpPr/>
          <p:nvPr/>
        </p:nvSpPr>
        <p:spPr>
          <a:xfrm>
            <a:off x="658368" y="1965960"/>
            <a:ext cx="512064" cy="512064"/>
          </a:xfrm>
          <a:prstGeom prst="ellipse">
            <a:avLst/>
          </a:prstGeom>
          <a:solidFill>
            <a:srgbClr val="FBEFF1"/>
          </a:solidFill>
          <a:ln/>
        </p:spPr>
      </p:sp>
      <p:pic>
        <p:nvPicPr>
          <p:cNvPr id="5" name="Image 0" descr="/home/claude/viva_ppt/icons/warning_navy.png"/>
          <p:cNvPicPr>
            <a:picLocks noChangeAspect="1"/>
          </p:cNvPicPr>
          <p:nvPr/>
        </p:nvPicPr>
        <p:blipFill>
          <a:blip r:embed="rId3"/>
          <a:stretch>
            <a:fillRect/>
          </a:stretch>
        </p:blipFill>
        <p:spPr>
          <a:xfrm>
            <a:off x="791505" y="2099097"/>
            <a:ext cx="245791" cy="245791"/>
          </a:xfrm>
          <a:prstGeom prst="rect">
            <a:avLst/>
          </a:prstGeom>
        </p:spPr>
      </p:pic>
      <p:sp>
        <p:nvSpPr>
          <p:cNvPr id="6" name="Text 3"/>
          <p:cNvSpPr/>
          <p:nvPr/>
        </p:nvSpPr>
        <p:spPr>
          <a:xfrm>
            <a:off x="1417320" y="1965960"/>
            <a:ext cx="9601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Performance designed for, not yet profiled</a:t>
            </a:r>
            <a:endParaRPr lang="en-US" sz="1600" dirty="0"/>
          </a:p>
        </p:txBody>
      </p:sp>
      <p:sp>
        <p:nvSpPr>
          <p:cNvPr id="7" name="Text 4"/>
          <p:cNvSpPr/>
          <p:nvPr/>
        </p:nvSpPr>
        <p:spPr>
          <a:xfrm>
            <a:off x="1417320" y="2331720"/>
            <a:ext cx="9601200" cy="502920"/>
          </a:xfrm>
          <a:prstGeom prst="rect">
            <a:avLst/>
          </a:prstGeom>
          <a:noFill/>
          <a:ln/>
        </p:spPr>
        <p:txBody>
          <a:bodyPr wrap="square" rtlCol="0" anchor="ctr"/>
          <a:lstStyle/>
          <a:p>
            <a:pPr marL="0" indent="0">
              <a:lnSpc>
                <a:spcPct val="120000"/>
              </a:lnSpc>
              <a:buNone/>
            </a:pPr>
            <a:r>
              <a:rPr lang="en-US" sz="1300" dirty="0">
                <a:solidFill>
                  <a:srgbClr val="1B1F3B"/>
                </a:solidFill>
                <a:latin typeface="Calibri" pitchFamily="34" charset="0"/>
                <a:ea typeface="Calibri" pitchFamily="34" charset="-122"/>
                <a:cs typeface="Calibri" pitchFamily="34" charset="-120"/>
              </a:rPr>
              <a:t>40×40 grid animation was engineered for — Canvas rendering, O(1) overlay lookups — but not directly measured for frame rate.</a:t>
            </a:r>
            <a:endParaRPr lang="en-US" sz="1300" dirty="0"/>
          </a:p>
        </p:txBody>
      </p:sp>
      <p:sp>
        <p:nvSpPr>
          <p:cNvPr id="8" name="Shape 5"/>
          <p:cNvSpPr/>
          <p:nvPr/>
        </p:nvSpPr>
        <p:spPr>
          <a:xfrm>
            <a:off x="658368" y="3264408"/>
            <a:ext cx="512064" cy="512064"/>
          </a:xfrm>
          <a:prstGeom prst="ellipse">
            <a:avLst/>
          </a:prstGeom>
          <a:solidFill>
            <a:srgbClr val="FBEFF1"/>
          </a:solidFill>
          <a:ln/>
        </p:spPr>
      </p:sp>
      <p:pic>
        <p:nvPicPr>
          <p:cNvPr id="9" name="Image 1" descr="/home/claude/viva_ppt/icons/warning_navy.png"/>
          <p:cNvPicPr>
            <a:picLocks noChangeAspect="1"/>
          </p:cNvPicPr>
          <p:nvPr/>
        </p:nvPicPr>
        <p:blipFill>
          <a:blip r:embed="rId3"/>
          <a:stretch>
            <a:fillRect/>
          </a:stretch>
        </p:blipFill>
        <p:spPr>
          <a:xfrm>
            <a:off x="791505" y="3397545"/>
            <a:ext cx="245791" cy="245791"/>
          </a:xfrm>
          <a:prstGeom prst="rect">
            <a:avLst/>
          </a:prstGeom>
        </p:spPr>
      </p:pic>
      <p:sp>
        <p:nvSpPr>
          <p:cNvPr id="10" name="Text 6"/>
          <p:cNvSpPr/>
          <p:nvPr/>
        </p:nvSpPr>
        <p:spPr>
          <a:xfrm>
            <a:off x="1417320" y="3264408"/>
            <a:ext cx="9601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No diagonal movement</a:t>
            </a:r>
            <a:endParaRPr lang="en-US" sz="1600" dirty="0"/>
          </a:p>
        </p:txBody>
      </p:sp>
      <p:sp>
        <p:nvSpPr>
          <p:cNvPr id="11" name="Text 7"/>
          <p:cNvSpPr/>
          <p:nvPr/>
        </p:nvSpPr>
        <p:spPr>
          <a:xfrm>
            <a:off x="1417320" y="3630168"/>
            <a:ext cx="9601200" cy="502920"/>
          </a:xfrm>
          <a:prstGeom prst="rect">
            <a:avLst/>
          </a:prstGeom>
          <a:noFill/>
          <a:ln/>
        </p:spPr>
        <p:txBody>
          <a:bodyPr wrap="square" rtlCol="0" anchor="ctr"/>
          <a:lstStyle/>
          <a:p>
            <a:pPr marL="0" indent="0">
              <a:lnSpc>
                <a:spcPct val="120000"/>
              </a:lnSpc>
              <a:buNone/>
            </a:pPr>
            <a:r>
              <a:rPr lang="en-US" sz="1300" dirty="0">
                <a:solidFill>
                  <a:srgbClr val="1B1F3B"/>
                </a:solidFill>
                <a:latin typeface="Calibri" pitchFamily="34" charset="0"/>
                <a:ea typeface="Calibri" pitchFamily="34" charset="-122"/>
                <a:cs typeface="Calibri" pitchFamily="34" charset="-120"/>
              </a:rPr>
              <a:t>Only 4-directional; heuristic is Manhattan distance only.</a:t>
            </a:r>
            <a:endParaRPr lang="en-US" sz="1300" dirty="0"/>
          </a:p>
        </p:txBody>
      </p:sp>
      <p:sp>
        <p:nvSpPr>
          <p:cNvPr id="12" name="Shape 8"/>
          <p:cNvSpPr/>
          <p:nvPr/>
        </p:nvSpPr>
        <p:spPr>
          <a:xfrm>
            <a:off x="658368" y="4562856"/>
            <a:ext cx="512064" cy="512064"/>
          </a:xfrm>
          <a:prstGeom prst="ellipse">
            <a:avLst/>
          </a:prstGeom>
          <a:solidFill>
            <a:srgbClr val="FBEFF1"/>
          </a:solidFill>
          <a:ln/>
        </p:spPr>
      </p:sp>
      <p:pic>
        <p:nvPicPr>
          <p:cNvPr id="13" name="Image 2" descr="/home/claude/viva_ppt/icons/warning_navy.png"/>
          <p:cNvPicPr>
            <a:picLocks noChangeAspect="1"/>
          </p:cNvPicPr>
          <p:nvPr/>
        </p:nvPicPr>
        <p:blipFill>
          <a:blip r:embed="rId3"/>
          <a:stretch>
            <a:fillRect/>
          </a:stretch>
        </p:blipFill>
        <p:spPr>
          <a:xfrm>
            <a:off x="791505" y="4695993"/>
            <a:ext cx="245791" cy="245791"/>
          </a:xfrm>
          <a:prstGeom prst="rect">
            <a:avLst/>
          </a:prstGeom>
        </p:spPr>
      </p:pic>
      <p:sp>
        <p:nvSpPr>
          <p:cNvPr id="14" name="Text 9"/>
          <p:cNvSpPr/>
          <p:nvPr/>
        </p:nvSpPr>
        <p:spPr>
          <a:xfrm>
            <a:off x="1417320" y="4562856"/>
            <a:ext cx="9601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No persistence</a:t>
            </a:r>
            <a:endParaRPr lang="en-US" sz="1600" dirty="0"/>
          </a:p>
        </p:txBody>
      </p:sp>
      <p:sp>
        <p:nvSpPr>
          <p:cNvPr id="15" name="Text 10"/>
          <p:cNvSpPr/>
          <p:nvPr/>
        </p:nvSpPr>
        <p:spPr>
          <a:xfrm>
            <a:off x="1417320" y="4928616"/>
            <a:ext cx="9601200" cy="502920"/>
          </a:xfrm>
          <a:prstGeom prst="rect">
            <a:avLst/>
          </a:prstGeom>
          <a:noFill/>
          <a:ln/>
        </p:spPr>
        <p:txBody>
          <a:bodyPr wrap="square" rtlCol="0" anchor="ctr"/>
          <a:lstStyle/>
          <a:p>
            <a:pPr marL="0" indent="0">
              <a:lnSpc>
                <a:spcPct val="120000"/>
              </a:lnSpc>
              <a:buNone/>
            </a:pPr>
            <a:r>
              <a:rPr lang="en-US" sz="1300" dirty="0">
                <a:solidFill>
                  <a:srgbClr val="1B1F3B"/>
                </a:solidFill>
                <a:latin typeface="Calibri" pitchFamily="34" charset="0"/>
                <a:ea typeface="Calibri" pitchFamily="34" charset="-122"/>
                <a:cs typeface="Calibri" pitchFamily="34" charset="-120"/>
              </a:rPr>
              <a:t>A generated or hand-edited maze can't be saved across sessions — a deliberate scope decision.</a:t>
            </a:r>
            <a:endParaRPr lang="en-US" sz="1300" dirty="0"/>
          </a:p>
        </p:txBody>
      </p:sp>
      <p:sp>
        <p:nvSpPr>
          <p:cNvPr id="16" name="Text 11"/>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Future Enhancements</a:t>
            </a:r>
            <a:endParaRPr lang="en-US" sz="3000" dirty="0"/>
          </a:p>
        </p:txBody>
      </p:sp>
      <p:sp>
        <p:nvSpPr>
          <p:cNvPr id="3" name="Text 1"/>
          <p:cNvSpPr/>
          <p:nvPr/>
        </p:nvSpPr>
        <p:spPr>
          <a:xfrm>
            <a:off x="548640" y="1097280"/>
            <a:ext cx="11064240" cy="365760"/>
          </a:xfrm>
          <a:prstGeom prst="rect">
            <a:avLst/>
          </a:prstGeom>
          <a:noFill/>
          <a:ln/>
        </p:spPr>
        <p:txBody>
          <a:bodyPr wrap="square" rtlCol="0" anchor="ctr"/>
          <a:lstStyle/>
          <a:p>
            <a:pPr marL="0" indent="0">
              <a:buNone/>
            </a:pPr>
            <a:r>
              <a:rPr lang="en-US" sz="1350" i="1" dirty="0">
                <a:solidFill>
                  <a:srgbClr val="5B6280"/>
                </a:solidFill>
                <a:latin typeface="Calibri" pitchFamily="34" charset="0"/>
                <a:ea typeface="Calibri" pitchFamily="34" charset="-122"/>
                <a:cs typeface="Calibri" pitchFamily="34" charset="-120"/>
              </a:rPr>
              <a:t>Identified during specification, deliberately deferred — not required for the core deliverable.</a:t>
            </a:r>
            <a:endParaRPr lang="en-US" sz="1350" dirty="0"/>
          </a:p>
        </p:txBody>
      </p:sp>
      <p:sp>
        <p:nvSpPr>
          <p:cNvPr id="4" name="Shape 2"/>
          <p:cNvSpPr/>
          <p:nvPr/>
        </p:nvSpPr>
        <p:spPr>
          <a:xfrm>
            <a:off x="653796" y="1965960"/>
            <a:ext cx="5212080" cy="1691640"/>
          </a:xfrm>
          <a:prstGeom prst="roundRect">
            <a:avLst>
              <a:gd name="adj" fmla="val 4324"/>
            </a:avLst>
          </a:prstGeom>
          <a:solidFill>
            <a:srgbClr val="F4F7FE"/>
          </a:solidFill>
          <a:ln/>
        </p:spPr>
      </p:sp>
      <p:sp>
        <p:nvSpPr>
          <p:cNvPr id="5" name="Shape 3"/>
          <p:cNvSpPr/>
          <p:nvPr/>
        </p:nvSpPr>
        <p:spPr>
          <a:xfrm>
            <a:off x="928116" y="2194560"/>
            <a:ext cx="548640" cy="548640"/>
          </a:xfrm>
          <a:prstGeom prst="ellipse">
            <a:avLst/>
          </a:prstGeom>
          <a:solidFill>
            <a:srgbClr val="CADCFC"/>
          </a:solidFill>
          <a:ln/>
        </p:spPr>
      </p:sp>
      <p:pic>
        <p:nvPicPr>
          <p:cNvPr id="6" name="Image 0" descr="/home/claude/viva_ppt/icons/rocket_navy.png"/>
          <p:cNvPicPr>
            <a:picLocks noChangeAspect="1"/>
          </p:cNvPicPr>
          <p:nvPr/>
        </p:nvPicPr>
        <p:blipFill>
          <a:blip r:embed="rId3"/>
          <a:stretch>
            <a:fillRect/>
          </a:stretch>
        </p:blipFill>
        <p:spPr>
          <a:xfrm>
            <a:off x="1070762" y="2337206"/>
            <a:ext cx="263347" cy="263347"/>
          </a:xfrm>
          <a:prstGeom prst="rect">
            <a:avLst/>
          </a:prstGeom>
        </p:spPr>
      </p:pic>
      <p:sp>
        <p:nvSpPr>
          <p:cNvPr id="7" name="Text 4"/>
          <p:cNvSpPr/>
          <p:nvPr/>
        </p:nvSpPr>
        <p:spPr>
          <a:xfrm>
            <a:off x="1613916" y="2130552"/>
            <a:ext cx="4023360" cy="1371600"/>
          </a:xfrm>
          <a:prstGeom prst="rect">
            <a:avLst/>
          </a:prstGeom>
          <a:noFill/>
          <a:ln/>
        </p:spPr>
        <p:txBody>
          <a:bodyPr wrap="square" rtlCol="0" anchor="ctr"/>
          <a:lstStyle/>
          <a:p>
            <a:pPr marL="0" indent="0">
              <a:lnSpc>
                <a:spcPct val="120000"/>
              </a:lnSpc>
              <a:buNone/>
            </a:pPr>
            <a:r>
              <a:rPr lang="en-US" sz="1400" b="1" dirty="0">
                <a:solidFill>
                  <a:srgbClr val="1E2761"/>
                </a:solidFill>
                <a:latin typeface="Calibri" pitchFamily="34" charset="0"/>
                <a:ea typeface="Calibri" pitchFamily="34" charset="-122"/>
                <a:cs typeface="Calibri" pitchFamily="34" charset="-120"/>
              </a:rPr>
              <a:t>Save &amp; load custom mazes via browser local storage</a:t>
            </a:r>
            <a:endParaRPr lang="en-US" sz="1400" dirty="0"/>
          </a:p>
        </p:txBody>
      </p:sp>
      <p:sp>
        <p:nvSpPr>
          <p:cNvPr id="8" name="Shape 5"/>
          <p:cNvSpPr/>
          <p:nvPr/>
        </p:nvSpPr>
        <p:spPr>
          <a:xfrm>
            <a:off x="6323076" y="1965960"/>
            <a:ext cx="5212080" cy="1691640"/>
          </a:xfrm>
          <a:prstGeom prst="roundRect">
            <a:avLst>
              <a:gd name="adj" fmla="val 4324"/>
            </a:avLst>
          </a:prstGeom>
          <a:solidFill>
            <a:srgbClr val="F4F7FE"/>
          </a:solidFill>
          <a:ln/>
        </p:spPr>
      </p:sp>
      <p:sp>
        <p:nvSpPr>
          <p:cNvPr id="9" name="Shape 6"/>
          <p:cNvSpPr/>
          <p:nvPr/>
        </p:nvSpPr>
        <p:spPr>
          <a:xfrm>
            <a:off x="6597396" y="2194560"/>
            <a:ext cx="548640" cy="548640"/>
          </a:xfrm>
          <a:prstGeom prst="ellipse">
            <a:avLst/>
          </a:prstGeom>
          <a:solidFill>
            <a:srgbClr val="CADCFC"/>
          </a:solidFill>
          <a:ln/>
        </p:spPr>
      </p:sp>
      <p:pic>
        <p:nvPicPr>
          <p:cNvPr id="10" name="Image 1" descr="/home/claude/viva_ppt/icons/rocket_navy.png"/>
          <p:cNvPicPr>
            <a:picLocks noChangeAspect="1"/>
          </p:cNvPicPr>
          <p:nvPr/>
        </p:nvPicPr>
        <p:blipFill>
          <a:blip r:embed="rId3"/>
          <a:stretch>
            <a:fillRect/>
          </a:stretch>
        </p:blipFill>
        <p:spPr>
          <a:xfrm>
            <a:off x="6740042" y="2337206"/>
            <a:ext cx="263347" cy="263347"/>
          </a:xfrm>
          <a:prstGeom prst="rect">
            <a:avLst/>
          </a:prstGeom>
        </p:spPr>
      </p:pic>
      <p:sp>
        <p:nvSpPr>
          <p:cNvPr id="11" name="Text 7"/>
          <p:cNvSpPr/>
          <p:nvPr/>
        </p:nvSpPr>
        <p:spPr>
          <a:xfrm>
            <a:off x="7283196" y="2130552"/>
            <a:ext cx="4023360" cy="1371600"/>
          </a:xfrm>
          <a:prstGeom prst="rect">
            <a:avLst/>
          </a:prstGeom>
          <a:noFill/>
          <a:ln/>
        </p:spPr>
        <p:txBody>
          <a:bodyPr wrap="square" rtlCol="0" anchor="ctr"/>
          <a:lstStyle/>
          <a:p>
            <a:pPr marL="0" indent="0">
              <a:lnSpc>
                <a:spcPct val="120000"/>
              </a:lnSpc>
              <a:buNone/>
            </a:pPr>
            <a:r>
              <a:rPr lang="en-US" sz="1400" b="1" dirty="0">
                <a:solidFill>
                  <a:srgbClr val="1E2761"/>
                </a:solidFill>
                <a:latin typeface="Calibri" pitchFamily="34" charset="0"/>
                <a:ea typeface="Calibri" pitchFamily="34" charset="-122"/>
                <a:cs typeface="Calibri" pitchFamily="34" charset="-120"/>
              </a:rPr>
              <a:t>Export a completed run as a shareable animated GIF</a:t>
            </a:r>
            <a:endParaRPr lang="en-US" sz="1400" dirty="0"/>
          </a:p>
        </p:txBody>
      </p:sp>
      <p:sp>
        <p:nvSpPr>
          <p:cNvPr id="12" name="Shape 8"/>
          <p:cNvSpPr/>
          <p:nvPr/>
        </p:nvSpPr>
        <p:spPr>
          <a:xfrm>
            <a:off x="653796" y="3977640"/>
            <a:ext cx="5212080" cy="1691640"/>
          </a:xfrm>
          <a:prstGeom prst="roundRect">
            <a:avLst>
              <a:gd name="adj" fmla="val 4324"/>
            </a:avLst>
          </a:prstGeom>
          <a:solidFill>
            <a:srgbClr val="F4F7FE"/>
          </a:solidFill>
          <a:ln/>
        </p:spPr>
      </p:sp>
      <p:sp>
        <p:nvSpPr>
          <p:cNvPr id="13" name="Shape 9"/>
          <p:cNvSpPr/>
          <p:nvPr/>
        </p:nvSpPr>
        <p:spPr>
          <a:xfrm>
            <a:off x="928116" y="4206240"/>
            <a:ext cx="548640" cy="548640"/>
          </a:xfrm>
          <a:prstGeom prst="ellipse">
            <a:avLst/>
          </a:prstGeom>
          <a:solidFill>
            <a:srgbClr val="CADCFC"/>
          </a:solidFill>
          <a:ln/>
        </p:spPr>
      </p:sp>
      <p:pic>
        <p:nvPicPr>
          <p:cNvPr id="14" name="Image 2" descr="/home/claude/viva_ppt/icons/rocket_navy.png"/>
          <p:cNvPicPr>
            <a:picLocks noChangeAspect="1"/>
          </p:cNvPicPr>
          <p:nvPr/>
        </p:nvPicPr>
        <p:blipFill>
          <a:blip r:embed="rId3"/>
          <a:stretch>
            <a:fillRect/>
          </a:stretch>
        </p:blipFill>
        <p:spPr>
          <a:xfrm>
            <a:off x="1070762" y="4348886"/>
            <a:ext cx="263347" cy="263347"/>
          </a:xfrm>
          <a:prstGeom prst="rect">
            <a:avLst/>
          </a:prstGeom>
        </p:spPr>
      </p:pic>
      <p:sp>
        <p:nvSpPr>
          <p:cNvPr id="15" name="Text 10"/>
          <p:cNvSpPr/>
          <p:nvPr/>
        </p:nvSpPr>
        <p:spPr>
          <a:xfrm>
            <a:off x="1613916" y="4142232"/>
            <a:ext cx="4023360" cy="1371600"/>
          </a:xfrm>
          <a:prstGeom prst="rect">
            <a:avLst/>
          </a:prstGeom>
          <a:noFill/>
          <a:ln/>
        </p:spPr>
        <p:txBody>
          <a:bodyPr wrap="square" rtlCol="0" anchor="ctr"/>
          <a:lstStyle/>
          <a:p>
            <a:pPr marL="0" indent="0">
              <a:lnSpc>
                <a:spcPct val="120000"/>
              </a:lnSpc>
              <a:buNone/>
            </a:pPr>
            <a:r>
              <a:rPr lang="en-US" sz="1400" b="1" dirty="0">
                <a:solidFill>
                  <a:srgbClr val="1E2761"/>
                </a:solidFill>
                <a:latin typeface="Calibri" pitchFamily="34" charset="0"/>
                <a:ea typeface="Calibri" pitchFamily="34" charset="-122"/>
                <a:cs typeface="Calibri" pitchFamily="34" charset="-120"/>
              </a:rPr>
              <a:t>Add Greedy Best-First Search to contrast against A*</a:t>
            </a:r>
            <a:endParaRPr lang="en-US" sz="1400" dirty="0"/>
          </a:p>
        </p:txBody>
      </p:sp>
      <p:sp>
        <p:nvSpPr>
          <p:cNvPr id="16" name="Shape 11"/>
          <p:cNvSpPr/>
          <p:nvPr/>
        </p:nvSpPr>
        <p:spPr>
          <a:xfrm>
            <a:off x="6323076" y="3977640"/>
            <a:ext cx="5212080" cy="1691640"/>
          </a:xfrm>
          <a:prstGeom prst="roundRect">
            <a:avLst>
              <a:gd name="adj" fmla="val 4324"/>
            </a:avLst>
          </a:prstGeom>
          <a:solidFill>
            <a:srgbClr val="F4F7FE"/>
          </a:solidFill>
          <a:ln/>
        </p:spPr>
      </p:sp>
      <p:sp>
        <p:nvSpPr>
          <p:cNvPr id="17" name="Shape 12"/>
          <p:cNvSpPr/>
          <p:nvPr/>
        </p:nvSpPr>
        <p:spPr>
          <a:xfrm>
            <a:off x="6597396" y="4206240"/>
            <a:ext cx="548640" cy="548640"/>
          </a:xfrm>
          <a:prstGeom prst="ellipse">
            <a:avLst/>
          </a:prstGeom>
          <a:solidFill>
            <a:srgbClr val="CADCFC"/>
          </a:solidFill>
          <a:ln/>
        </p:spPr>
      </p:sp>
      <p:pic>
        <p:nvPicPr>
          <p:cNvPr id="18" name="Image 3" descr="/home/claude/viva_ppt/icons/rocket_navy.png"/>
          <p:cNvPicPr>
            <a:picLocks noChangeAspect="1"/>
          </p:cNvPicPr>
          <p:nvPr/>
        </p:nvPicPr>
        <p:blipFill>
          <a:blip r:embed="rId3"/>
          <a:stretch>
            <a:fillRect/>
          </a:stretch>
        </p:blipFill>
        <p:spPr>
          <a:xfrm>
            <a:off x="6740042" y="4348886"/>
            <a:ext cx="263347" cy="263347"/>
          </a:xfrm>
          <a:prstGeom prst="rect">
            <a:avLst/>
          </a:prstGeom>
        </p:spPr>
      </p:pic>
      <p:sp>
        <p:nvSpPr>
          <p:cNvPr id="19" name="Text 13"/>
          <p:cNvSpPr/>
          <p:nvPr/>
        </p:nvSpPr>
        <p:spPr>
          <a:xfrm>
            <a:off x="7283196" y="4142232"/>
            <a:ext cx="4023360" cy="1371600"/>
          </a:xfrm>
          <a:prstGeom prst="rect">
            <a:avLst/>
          </a:prstGeom>
          <a:noFill/>
          <a:ln/>
        </p:spPr>
        <p:txBody>
          <a:bodyPr wrap="square" rtlCol="0" anchor="ctr"/>
          <a:lstStyle/>
          <a:p>
            <a:pPr marL="0" indent="0">
              <a:lnSpc>
                <a:spcPct val="120000"/>
              </a:lnSpc>
              <a:buNone/>
            </a:pPr>
            <a:r>
              <a:rPr lang="en-US" sz="1400" b="1" dirty="0">
                <a:solidFill>
                  <a:srgbClr val="1E2761"/>
                </a:solidFill>
                <a:latin typeface="Calibri" pitchFamily="34" charset="0"/>
                <a:ea typeface="Calibri" pitchFamily="34" charset="-122"/>
                <a:cs typeface="Calibri" pitchFamily="34" charset="-120"/>
              </a:rPr>
              <a:t>8-directional movement (Chebyshev / Euclidean heuristic)</a:t>
            </a:r>
            <a:endParaRPr lang="en-US" sz="1400" dirty="0"/>
          </a:p>
        </p:txBody>
      </p:sp>
      <p:sp>
        <p:nvSpPr>
          <p:cNvPr id="20" name="Text 14"/>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850892" y="548640"/>
            <a:ext cx="273588" cy="273588"/>
          </a:xfrm>
          <a:prstGeom prst="roundRect">
            <a:avLst>
              <a:gd name="adj" fmla="val 6685"/>
            </a:avLst>
          </a:prstGeom>
          <a:solidFill>
            <a:srgbClr val="2A3572"/>
          </a:solidFill>
          <a:ln/>
        </p:spPr>
      </p:sp>
      <p:sp>
        <p:nvSpPr>
          <p:cNvPr id="3" name="Shape 1"/>
          <p:cNvSpPr/>
          <p:nvPr/>
        </p:nvSpPr>
        <p:spPr>
          <a:xfrm>
            <a:off x="5161788" y="548640"/>
            <a:ext cx="273588" cy="273588"/>
          </a:xfrm>
          <a:prstGeom prst="roundRect">
            <a:avLst>
              <a:gd name="adj" fmla="val 6685"/>
            </a:avLst>
          </a:prstGeom>
          <a:solidFill>
            <a:srgbClr val="2A3572"/>
          </a:solidFill>
          <a:ln/>
        </p:spPr>
      </p:sp>
      <p:sp>
        <p:nvSpPr>
          <p:cNvPr id="4" name="Shape 2"/>
          <p:cNvSpPr/>
          <p:nvPr/>
        </p:nvSpPr>
        <p:spPr>
          <a:xfrm>
            <a:off x="5472684" y="548640"/>
            <a:ext cx="273588" cy="273588"/>
          </a:xfrm>
          <a:prstGeom prst="roundRect">
            <a:avLst>
              <a:gd name="adj" fmla="val 6685"/>
            </a:avLst>
          </a:prstGeom>
          <a:solidFill>
            <a:srgbClr val="141B4D"/>
          </a:solidFill>
          <a:ln/>
        </p:spPr>
      </p:sp>
      <p:sp>
        <p:nvSpPr>
          <p:cNvPr id="5" name="Shape 3"/>
          <p:cNvSpPr/>
          <p:nvPr/>
        </p:nvSpPr>
        <p:spPr>
          <a:xfrm>
            <a:off x="5783580" y="548640"/>
            <a:ext cx="273588" cy="273588"/>
          </a:xfrm>
          <a:prstGeom prst="roundRect">
            <a:avLst>
              <a:gd name="adj" fmla="val 6685"/>
            </a:avLst>
          </a:prstGeom>
          <a:solidFill>
            <a:srgbClr val="2A3572"/>
          </a:solidFill>
          <a:ln/>
        </p:spPr>
      </p:sp>
      <p:sp>
        <p:nvSpPr>
          <p:cNvPr id="6" name="Shape 4"/>
          <p:cNvSpPr/>
          <p:nvPr/>
        </p:nvSpPr>
        <p:spPr>
          <a:xfrm>
            <a:off x="6094476" y="548640"/>
            <a:ext cx="273588" cy="273588"/>
          </a:xfrm>
          <a:prstGeom prst="roundRect">
            <a:avLst>
              <a:gd name="adj" fmla="val 6685"/>
            </a:avLst>
          </a:prstGeom>
          <a:solidFill>
            <a:srgbClr val="2A3572"/>
          </a:solidFill>
          <a:ln/>
        </p:spPr>
      </p:sp>
      <p:sp>
        <p:nvSpPr>
          <p:cNvPr id="7" name="Shape 5"/>
          <p:cNvSpPr/>
          <p:nvPr/>
        </p:nvSpPr>
        <p:spPr>
          <a:xfrm>
            <a:off x="6405372" y="548640"/>
            <a:ext cx="273588" cy="273588"/>
          </a:xfrm>
          <a:prstGeom prst="roundRect">
            <a:avLst>
              <a:gd name="adj" fmla="val 6685"/>
            </a:avLst>
          </a:prstGeom>
          <a:solidFill>
            <a:srgbClr val="141B4D"/>
          </a:solidFill>
          <a:ln/>
        </p:spPr>
      </p:sp>
      <p:sp>
        <p:nvSpPr>
          <p:cNvPr id="8" name="Shape 6"/>
          <p:cNvSpPr/>
          <p:nvPr/>
        </p:nvSpPr>
        <p:spPr>
          <a:xfrm>
            <a:off x="6716268" y="548640"/>
            <a:ext cx="273588" cy="273588"/>
          </a:xfrm>
          <a:prstGeom prst="roundRect">
            <a:avLst>
              <a:gd name="adj" fmla="val 6685"/>
            </a:avLst>
          </a:prstGeom>
          <a:solidFill>
            <a:srgbClr val="2A3572"/>
          </a:solidFill>
          <a:ln/>
        </p:spPr>
      </p:sp>
      <p:sp>
        <p:nvSpPr>
          <p:cNvPr id="9" name="Shape 7"/>
          <p:cNvSpPr/>
          <p:nvPr/>
        </p:nvSpPr>
        <p:spPr>
          <a:xfrm>
            <a:off x="7027164" y="548640"/>
            <a:ext cx="273588" cy="273588"/>
          </a:xfrm>
          <a:prstGeom prst="roundRect">
            <a:avLst>
              <a:gd name="adj" fmla="val 6685"/>
            </a:avLst>
          </a:prstGeom>
          <a:solidFill>
            <a:srgbClr val="2A3572"/>
          </a:solidFill>
          <a:ln/>
        </p:spPr>
      </p:sp>
      <p:sp>
        <p:nvSpPr>
          <p:cNvPr id="10" name="Shape 8"/>
          <p:cNvSpPr/>
          <p:nvPr/>
        </p:nvSpPr>
        <p:spPr>
          <a:xfrm>
            <a:off x="4850892" y="859536"/>
            <a:ext cx="273588" cy="273588"/>
          </a:xfrm>
          <a:prstGeom prst="roundRect">
            <a:avLst>
              <a:gd name="adj" fmla="val 6685"/>
            </a:avLst>
          </a:prstGeom>
          <a:solidFill>
            <a:srgbClr val="2A3572"/>
          </a:solidFill>
          <a:ln/>
        </p:spPr>
      </p:sp>
      <p:sp>
        <p:nvSpPr>
          <p:cNvPr id="11" name="Shape 9"/>
          <p:cNvSpPr/>
          <p:nvPr/>
        </p:nvSpPr>
        <p:spPr>
          <a:xfrm>
            <a:off x="5161788" y="859536"/>
            <a:ext cx="273588" cy="273588"/>
          </a:xfrm>
          <a:prstGeom prst="roundRect">
            <a:avLst>
              <a:gd name="adj" fmla="val 6685"/>
            </a:avLst>
          </a:prstGeom>
          <a:solidFill>
            <a:srgbClr val="2A3572"/>
          </a:solidFill>
          <a:ln/>
        </p:spPr>
      </p:sp>
      <p:sp>
        <p:nvSpPr>
          <p:cNvPr id="12" name="Shape 10"/>
          <p:cNvSpPr/>
          <p:nvPr/>
        </p:nvSpPr>
        <p:spPr>
          <a:xfrm>
            <a:off x="5472684" y="859536"/>
            <a:ext cx="273588" cy="273588"/>
          </a:xfrm>
          <a:prstGeom prst="roundRect">
            <a:avLst>
              <a:gd name="adj" fmla="val 6685"/>
            </a:avLst>
          </a:prstGeom>
          <a:solidFill>
            <a:srgbClr val="141B4D"/>
          </a:solidFill>
          <a:ln/>
        </p:spPr>
      </p:sp>
      <p:sp>
        <p:nvSpPr>
          <p:cNvPr id="13" name="Shape 11"/>
          <p:cNvSpPr/>
          <p:nvPr/>
        </p:nvSpPr>
        <p:spPr>
          <a:xfrm>
            <a:off x="5783580" y="859536"/>
            <a:ext cx="273588" cy="273588"/>
          </a:xfrm>
          <a:prstGeom prst="roundRect">
            <a:avLst>
              <a:gd name="adj" fmla="val 6685"/>
            </a:avLst>
          </a:prstGeom>
          <a:solidFill>
            <a:srgbClr val="2A3572"/>
          </a:solidFill>
          <a:ln/>
        </p:spPr>
      </p:sp>
      <p:sp>
        <p:nvSpPr>
          <p:cNvPr id="14" name="Shape 12"/>
          <p:cNvSpPr/>
          <p:nvPr/>
        </p:nvSpPr>
        <p:spPr>
          <a:xfrm>
            <a:off x="6094476" y="859536"/>
            <a:ext cx="273588" cy="273588"/>
          </a:xfrm>
          <a:prstGeom prst="roundRect">
            <a:avLst>
              <a:gd name="adj" fmla="val 6685"/>
            </a:avLst>
          </a:prstGeom>
          <a:solidFill>
            <a:srgbClr val="2A3572"/>
          </a:solidFill>
          <a:ln/>
        </p:spPr>
      </p:sp>
      <p:sp>
        <p:nvSpPr>
          <p:cNvPr id="15" name="Shape 13"/>
          <p:cNvSpPr/>
          <p:nvPr/>
        </p:nvSpPr>
        <p:spPr>
          <a:xfrm>
            <a:off x="6405372" y="859536"/>
            <a:ext cx="273588" cy="273588"/>
          </a:xfrm>
          <a:prstGeom prst="roundRect">
            <a:avLst>
              <a:gd name="adj" fmla="val 6685"/>
            </a:avLst>
          </a:prstGeom>
          <a:solidFill>
            <a:srgbClr val="141B4D"/>
          </a:solidFill>
          <a:ln/>
        </p:spPr>
      </p:sp>
      <p:sp>
        <p:nvSpPr>
          <p:cNvPr id="16" name="Shape 14"/>
          <p:cNvSpPr/>
          <p:nvPr/>
        </p:nvSpPr>
        <p:spPr>
          <a:xfrm>
            <a:off x="6716268" y="859536"/>
            <a:ext cx="273588" cy="273588"/>
          </a:xfrm>
          <a:prstGeom prst="roundRect">
            <a:avLst>
              <a:gd name="adj" fmla="val 6685"/>
            </a:avLst>
          </a:prstGeom>
          <a:solidFill>
            <a:srgbClr val="2A3572"/>
          </a:solidFill>
          <a:ln/>
        </p:spPr>
      </p:sp>
      <p:sp>
        <p:nvSpPr>
          <p:cNvPr id="17" name="Shape 15"/>
          <p:cNvSpPr/>
          <p:nvPr/>
        </p:nvSpPr>
        <p:spPr>
          <a:xfrm>
            <a:off x="7027164" y="859536"/>
            <a:ext cx="273588" cy="273588"/>
          </a:xfrm>
          <a:prstGeom prst="roundRect">
            <a:avLst>
              <a:gd name="adj" fmla="val 6685"/>
            </a:avLst>
          </a:prstGeom>
          <a:solidFill>
            <a:srgbClr val="2A3572"/>
          </a:solidFill>
          <a:ln/>
        </p:spPr>
      </p:sp>
      <p:sp>
        <p:nvSpPr>
          <p:cNvPr id="18" name="Shape 16"/>
          <p:cNvSpPr/>
          <p:nvPr/>
        </p:nvSpPr>
        <p:spPr>
          <a:xfrm>
            <a:off x="4850892" y="1170432"/>
            <a:ext cx="273588" cy="273588"/>
          </a:xfrm>
          <a:prstGeom prst="roundRect">
            <a:avLst>
              <a:gd name="adj" fmla="val 6685"/>
            </a:avLst>
          </a:prstGeom>
          <a:solidFill>
            <a:srgbClr val="2EC4B6"/>
          </a:solidFill>
          <a:ln/>
        </p:spPr>
      </p:sp>
      <p:sp>
        <p:nvSpPr>
          <p:cNvPr id="19" name="Shape 17"/>
          <p:cNvSpPr/>
          <p:nvPr/>
        </p:nvSpPr>
        <p:spPr>
          <a:xfrm>
            <a:off x="5161788" y="1170432"/>
            <a:ext cx="273588" cy="273588"/>
          </a:xfrm>
          <a:prstGeom prst="roundRect">
            <a:avLst>
              <a:gd name="adj" fmla="val 6685"/>
            </a:avLst>
          </a:prstGeom>
          <a:solidFill>
            <a:srgbClr val="2EC4B6"/>
          </a:solidFill>
          <a:ln/>
        </p:spPr>
      </p:sp>
      <p:sp>
        <p:nvSpPr>
          <p:cNvPr id="20" name="Shape 18"/>
          <p:cNvSpPr/>
          <p:nvPr/>
        </p:nvSpPr>
        <p:spPr>
          <a:xfrm>
            <a:off x="5472684" y="1170432"/>
            <a:ext cx="273588" cy="273588"/>
          </a:xfrm>
          <a:prstGeom prst="roundRect">
            <a:avLst>
              <a:gd name="adj" fmla="val 6685"/>
            </a:avLst>
          </a:prstGeom>
          <a:solidFill>
            <a:srgbClr val="2EC4B6"/>
          </a:solidFill>
          <a:ln/>
        </p:spPr>
      </p:sp>
      <p:sp>
        <p:nvSpPr>
          <p:cNvPr id="21" name="Shape 19"/>
          <p:cNvSpPr/>
          <p:nvPr/>
        </p:nvSpPr>
        <p:spPr>
          <a:xfrm>
            <a:off x="5783580" y="1170432"/>
            <a:ext cx="273588" cy="273588"/>
          </a:xfrm>
          <a:prstGeom prst="roundRect">
            <a:avLst>
              <a:gd name="adj" fmla="val 6685"/>
            </a:avLst>
          </a:prstGeom>
          <a:solidFill>
            <a:srgbClr val="2EC4B6"/>
          </a:solidFill>
          <a:ln/>
        </p:spPr>
      </p:sp>
      <p:sp>
        <p:nvSpPr>
          <p:cNvPr id="22" name="Shape 20"/>
          <p:cNvSpPr/>
          <p:nvPr/>
        </p:nvSpPr>
        <p:spPr>
          <a:xfrm>
            <a:off x="6094476" y="1170432"/>
            <a:ext cx="273588" cy="273588"/>
          </a:xfrm>
          <a:prstGeom prst="roundRect">
            <a:avLst>
              <a:gd name="adj" fmla="val 6685"/>
            </a:avLst>
          </a:prstGeom>
          <a:solidFill>
            <a:srgbClr val="2EC4B6"/>
          </a:solidFill>
          <a:ln/>
        </p:spPr>
      </p:sp>
      <p:sp>
        <p:nvSpPr>
          <p:cNvPr id="23" name="Shape 21"/>
          <p:cNvSpPr/>
          <p:nvPr/>
        </p:nvSpPr>
        <p:spPr>
          <a:xfrm>
            <a:off x="6405372" y="1170432"/>
            <a:ext cx="273588" cy="273588"/>
          </a:xfrm>
          <a:prstGeom prst="roundRect">
            <a:avLst>
              <a:gd name="adj" fmla="val 6685"/>
            </a:avLst>
          </a:prstGeom>
          <a:solidFill>
            <a:srgbClr val="2EC4B6"/>
          </a:solidFill>
          <a:ln/>
        </p:spPr>
      </p:sp>
      <p:sp>
        <p:nvSpPr>
          <p:cNvPr id="24" name="Shape 22"/>
          <p:cNvSpPr/>
          <p:nvPr/>
        </p:nvSpPr>
        <p:spPr>
          <a:xfrm>
            <a:off x="6716268" y="1170432"/>
            <a:ext cx="273588" cy="273588"/>
          </a:xfrm>
          <a:prstGeom prst="roundRect">
            <a:avLst>
              <a:gd name="adj" fmla="val 6685"/>
            </a:avLst>
          </a:prstGeom>
          <a:solidFill>
            <a:srgbClr val="2EC4B6"/>
          </a:solidFill>
          <a:ln/>
        </p:spPr>
      </p:sp>
      <p:sp>
        <p:nvSpPr>
          <p:cNvPr id="25" name="Shape 23"/>
          <p:cNvSpPr/>
          <p:nvPr/>
        </p:nvSpPr>
        <p:spPr>
          <a:xfrm>
            <a:off x="7027164" y="1170432"/>
            <a:ext cx="273588" cy="273588"/>
          </a:xfrm>
          <a:prstGeom prst="roundRect">
            <a:avLst>
              <a:gd name="adj" fmla="val 6685"/>
            </a:avLst>
          </a:prstGeom>
          <a:solidFill>
            <a:srgbClr val="2EC4B6"/>
          </a:solidFill>
          <a:ln/>
        </p:spPr>
      </p:sp>
      <p:sp>
        <p:nvSpPr>
          <p:cNvPr id="26" name="Shape 24"/>
          <p:cNvSpPr/>
          <p:nvPr/>
        </p:nvSpPr>
        <p:spPr>
          <a:xfrm>
            <a:off x="4850892" y="1481328"/>
            <a:ext cx="273588" cy="273588"/>
          </a:xfrm>
          <a:prstGeom prst="roundRect">
            <a:avLst>
              <a:gd name="adj" fmla="val 6685"/>
            </a:avLst>
          </a:prstGeom>
          <a:solidFill>
            <a:srgbClr val="2A3572"/>
          </a:solidFill>
          <a:ln/>
        </p:spPr>
      </p:sp>
      <p:sp>
        <p:nvSpPr>
          <p:cNvPr id="27" name="Shape 25"/>
          <p:cNvSpPr/>
          <p:nvPr/>
        </p:nvSpPr>
        <p:spPr>
          <a:xfrm>
            <a:off x="5161788" y="1481328"/>
            <a:ext cx="273588" cy="273588"/>
          </a:xfrm>
          <a:prstGeom prst="roundRect">
            <a:avLst>
              <a:gd name="adj" fmla="val 6685"/>
            </a:avLst>
          </a:prstGeom>
          <a:solidFill>
            <a:srgbClr val="2A3572"/>
          </a:solidFill>
          <a:ln/>
        </p:spPr>
      </p:sp>
      <p:sp>
        <p:nvSpPr>
          <p:cNvPr id="28" name="Shape 26"/>
          <p:cNvSpPr/>
          <p:nvPr/>
        </p:nvSpPr>
        <p:spPr>
          <a:xfrm>
            <a:off x="5472684" y="1481328"/>
            <a:ext cx="273588" cy="273588"/>
          </a:xfrm>
          <a:prstGeom prst="roundRect">
            <a:avLst>
              <a:gd name="adj" fmla="val 6685"/>
            </a:avLst>
          </a:prstGeom>
          <a:solidFill>
            <a:srgbClr val="141B4D"/>
          </a:solidFill>
          <a:ln/>
        </p:spPr>
      </p:sp>
      <p:sp>
        <p:nvSpPr>
          <p:cNvPr id="29" name="Shape 27"/>
          <p:cNvSpPr/>
          <p:nvPr/>
        </p:nvSpPr>
        <p:spPr>
          <a:xfrm>
            <a:off x="5783580" y="1481328"/>
            <a:ext cx="273588" cy="273588"/>
          </a:xfrm>
          <a:prstGeom prst="roundRect">
            <a:avLst>
              <a:gd name="adj" fmla="val 6685"/>
            </a:avLst>
          </a:prstGeom>
          <a:solidFill>
            <a:srgbClr val="2A3572"/>
          </a:solidFill>
          <a:ln/>
        </p:spPr>
      </p:sp>
      <p:sp>
        <p:nvSpPr>
          <p:cNvPr id="30" name="Shape 28"/>
          <p:cNvSpPr/>
          <p:nvPr/>
        </p:nvSpPr>
        <p:spPr>
          <a:xfrm>
            <a:off x="6094476" y="1481328"/>
            <a:ext cx="273588" cy="273588"/>
          </a:xfrm>
          <a:prstGeom prst="roundRect">
            <a:avLst>
              <a:gd name="adj" fmla="val 6685"/>
            </a:avLst>
          </a:prstGeom>
          <a:solidFill>
            <a:srgbClr val="2A3572"/>
          </a:solidFill>
          <a:ln/>
        </p:spPr>
      </p:sp>
      <p:sp>
        <p:nvSpPr>
          <p:cNvPr id="31" name="Shape 29"/>
          <p:cNvSpPr/>
          <p:nvPr/>
        </p:nvSpPr>
        <p:spPr>
          <a:xfrm>
            <a:off x="6405372" y="1481328"/>
            <a:ext cx="273588" cy="273588"/>
          </a:xfrm>
          <a:prstGeom prst="roundRect">
            <a:avLst>
              <a:gd name="adj" fmla="val 6685"/>
            </a:avLst>
          </a:prstGeom>
          <a:solidFill>
            <a:srgbClr val="141B4D"/>
          </a:solidFill>
          <a:ln/>
        </p:spPr>
      </p:sp>
      <p:sp>
        <p:nvSpPr>
          <p:cNvPr id="32" name="Shape 30"/>
          <p:cNvSpPr/>
          <p:nvPr/>
        </p:nvSpPr>
        <p:spPr>
          <a:xfrm>
            <a:off x="6716268" y="1481328"/>
            <a:ext cx="273588" cy="273588"/>
          </a:xfrm>
          <a:prstGeom prst="roundRect">
            <a:avLst>
              <a:gd name="adj" fmla="val 6685"/>
            </a:avLst>
          </a:prstGeom>
          <a:solidFill>
            <a:srgbClr val="2A3572"/>
          </a:solidFill>
          <a:ln/>
        </p:spPr>
      </p:sp>
      <p:sp>
        <p:nvSpPr>
          <p:cNvPr id="33" name="Shape 31"/>
          <p:cNvSpPr/>
          <p:nvPr/>
        </p:nvSpPr>
        <p:spPr>
          <a:xfrm>
            <a:off x="7027164" y="1481328"/>
            <a:ext cx="273588" cy="273588"/>
          </a:xfrm>
          <a:prstGeom prst="roundRect">
            <a:avLst>
              <a:gd name="adj" fmla="val 6685"/>
            </a:avLst>
          </a:prstGeom>
          <a:solidFill>
            <a:srgbClr val="2A3572"/>
          </a:solidFill>
          <a:ln/>
        </p:spPr>
      </p:sp>
      <p:sp>
        <p:nvSpPr>
          <p:cNvPr id="34" name="Shape 32"/>
          <p:cNvSpPr/>
          <p:nvPr/>
        </p:nvSpPr>
        <p:spPr>
          <a:xfrm>
            <a:off x="4850892" y="1792224"/>
            <a:ext cx="273588" cy="273588"/>
          </a:xfrm>
          <a:prstGeom prst="roundRect">
            <a:avLst>
              <a:gd name="adj" fmla="val 6685"/>
            </a:avLst>
          </a:prstGeom>
          <a:solidFill>
            <a:srgbClr val="2A3572"/>
          </a:solidFill>
          <a:ln/>
        </p:spPr>
      </p:sp>
      <p:sp>
        <p:nvSpPr>
          <p:cNvPr id="35" name="Shape 33"/>
          <p:cNvSpPr/>
          <p:nvPr/>
        </p:nvSpPr>
        <p:spPr>
          <a:xfrm>
            <a:off x="5161788" y="1792224"/>
            <a:ext cx="273588" cy="273588"/>
          </a:xfrm>
          <a:prstGeom prst="roundRect">
            <a:avLst>
              <a:gd name="adj" fmla="val 6685"/>
            </a:avLst>
          </a:prstGeom>
          <a:solidFill>
            <a:srgbClr val="2A3572"/>
          </a:solidFill>
          <a:ln/>
        </p:spPr>
      </p:sp>
      <p:sp>
        <p:nvSpPr>
          <p:cNvPr id="36" name="Shape 34"/>
          <p:cNvSpPr/>
          <p:nvPr/>
        </p:nvSpPr>
        <p:spPr>
          <a:xfrm>
            <a:off x="5472684" y="1792224"/>
            <a:ext cx="273588" cy="273588"/>
          </a:xfrm>
          <a:prstGeom prst="roundRect">
            <a:avLst>
              <a:gd name="adj" fmla="val 6685"/>
            </a:avLst>
          </a:prstGeom>
          <a:solidFill>
            <a:srgbClr val="141B4D"/>
          </a:solidFill>
          <a:ln/>
        </p:spPr>
      </p:sp>
      <p:sp>
        <p:nvSpPr>
          <p:cNvPr id="37" name="Shape 35"/>
          <p:cNvSpPr/>
          <p:nvPr/>
        </p:nvSpPr>
        <p:spPr>
          <a:xfrm>
            <a:off x="5783580" y="1792224"/>
            <a:ext cx="273588" cy="273588"/>
          </a:xfrm>
          <a:prstGeom prst="roundRect">
            <a:avLst>
              <a:gd name="adj" fmla="val 6685"/>
            </a:avLst>
          </a:prstGeom>
          <a:solidFill>
            <a:srgbClr val="2A3572"/>
          </a:solidFill>
          <a:ln/>
        </p:spPr>
      </p:sp>
      <p:sp>
        <p:nvSpPr>
          <p:cNvPr id="38" name="Shape 36"/>
          <p:cNvSpPr/>
          <p:nvPr/>
        </p:nvSpPr>
        <p:spPr>
          <a:xfrm>
            <a:off x="6094476" y="1792224"/>
            <a:ext cx="273588" cy="273588"/>
          </a:xfrm>
          <a:prstGeom prst="roundRect">
            <a:avLst>
              <a:gd name="adj" fmla="val 6685"/>
            </a:avLst>
          </a:prstGeom>
          <a:solidFill>
            <a:srgbClr val="2A3572"/>
          </a:solidFill>
          <a:ln/>
        </p:spPr>
      </p:sp>
      <p:sp>
        <p:nvSpPr>
          <p:cNvPr id="39" name="Shape 37"/>
          <p:cNvSpPr/>
          <p:nvPr/>
        </p:nvSpPr>
        <p:spPr>
          <a:xfrm>
            <a:off x="6405372" y="1792224"/>
            <a:ext cx="273588" cy="273588"/>
          </a:xfrm>
          <a:prstGeom prst="roundRect">
            <a:avLst>
              <a:gd name="adj" fmla="val 6685"/>
            </a:avLst>
          </a:prstGeom>
          <a:solidFill>
            <a:srgbClr val="141B4D"/>
          </a:solidFill>
          <a:ln/>
        </p:spPr>
      </p:sp>
      <p:sp>
        <p:nvSpPr>
          <p:cNvPr id="40" name="Shape 38"/>
          <p:cNvSpPr/>
          <p:nvPr/>
        </p:nvSpPr>
        <p:spPr>
          <a:xfrm>
            <a:off x="6716268" y="1792224"/>
            <a:ext cx="273588" cy="273588"/>
          </a:xfrm>
          <a:prstGeom prst="roundRect">
            <a:avLst>
              <a:gd name="adj" fmla="val 6685"/>
            </a:avLst>
          </a:prstGeom>
          <a:solidFill>
            <a:srgbClr val="2A3572"/>
          </a:solidFill>
          <a:ln/>
        </p:spPr>
      </p:sp>
      <p:sp>
        <p:nvSpPr>
          <p:cNvPr id="41" name="Shape 39"/>
          <p:cNvSpPr/>
          <p:nvPr/>
        </p:nvSpPr>
        <p:spPr>
          <a:xfrm>
            <a:off x="7027164" y="1792224"/>
            <a:ext cx="273588" cy="273588"/>
          </a:xfrm>
          <a:prstGeom prst="roundRect">
            <a:avLst>
              <a:gd name="adj" fmla="val 6685"/>
            </a:avLst>
          </a:prstGeom>
          <a:solidFill>
            <a:srgbClr val="2A3572"/>
          </a:solidFill>
          <a:ln/>
        </p:spPr>
      </p:sp>
      <p:sp>
        <p:nvSpPr>
          <p:cNvPr id="42" name="Text 40"/>
          <p:cNvSpPr/>
          <p:nvPr/>
        </p:nvSpPr>
        <p:spPr>
          <a:xfrm>
            <a:off x="0" y="2331720"/>
            <a:ext cx="12188952" cy="6400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3" name="Text 41"/>
          <p:cNvSpPr/>
          <p:nvPr/>
        </p:nvSpPr>
        <p:spPr>
          <a:xfrm>
            <a:off x="1828800" y="3108960"/>
            <a:ext cx="8531352" cy="1097280"/>
          </a:xfrm>
          <a:prstGeom prst="rect">
            <a:avLst/>
          </a:prstGeom>
          <a:noFill/>
          <a:ln/>
        </p:spPr>
        <p:txBody>
          <a:bodyPr wrap="square" rtlCol="0" anchor="ctr"/>
          <a:lstStyle/>
          <a:p>
            <a:pPr marL="0" indent="0" algn="ctr">
              <a:lnSpc>
                <a:spcPct val="135000"/>
              </a:lnSpc>
              <a:buNone/>
            </a:pPr>
            <a:r>
              <a:rPr lang="en-US" sz="1600" i="1" dirty="0">
                <a:solidFill>
                  <a:srgbClr val="CADCFC"/>
                </a:solidFill>
                <a:latin typeface="Calibri" pitchFamily="34" charset="0"/>
                <a:ea typeface="Calibri" pitchFamily="34" charset="-122"/>
                <a:cs typeface="Calibri" pitchFamily="34" charset="-120"/>
              </a:rPr>
              <a:t>PathVis set out to make pathfinding behaviour observable, not just memorised — and every algorithm, every animation, and every comparison in it is backed by an automated test, not just a demo.</a:t>
            </a:r>
            <a:endParaRPr lang="en-US" sz="1600" dirty="0"/>
          </a:p>
        </p:txBody>
      </p:sp>
      <p:sp>
        <p:nvSpPr>
          <p:cNvPr id="44" name="Text 42"/>
          <p:cNvSpPr/>
          <p:nvPr/>
        </p:nvSpPr>
        <p:spPr>
          <a:xfrm>
            <a:off x="0" y="4434840"/>
            <a:ext cx="12188952" cy="457200"/>
          </a:xfrm>
          <a:prstGeom prst="rect">
            <a:avLst/>
          </a:prstGeom>
          <a:noFill/>
          <a:ln/>
        </p:spPr>
        <p:txBody>
          <a:bodyPr wrap="square"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56 tests  ·  4 algorithms  ·  2 maze generators  ·  1 shared design pattern</a:t>
            </a:r>
            <a:endParaRPr lang="en-US" sz="1400" dirty="0"/>
          </a:p>
        </p:txBody>
      </p:sp>
      <p:sp>
        <p:nvSpPr>
          <p:cNvPr id="45" name="Text 43"/>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3973068" y="777240"/>
            <a:ext cx="466710" cy="466710"/>
          </a:xfrm>
          <a:prstGeom prst="roundRect">
            <a:avLst>
              <a:gd name="adj" fmla="val 3918"/>
            </a:avLst>
          </a:prstGeom>
          <a:solidFill>
            <a:srgbClr val="2A3572"/>
          </a:solidFill>
          <a:ln/>
        </p:spPr>
      </p:sp>
      <p:sp>
        <p:nvSpPr>
          <p:cNvPr id="3" name="Shape 1"/>
          <p:cNvSpPr/>
          <p:nvPr/>
        </p:nvSpPr>
        <p:spPr>
          <a:xfrm>
            <a:off x="4503420" y="777240"/>
            <a:ext cx="466710" cy="466710"/>
          </a:xfrm>
          <a:prstGeom prst="roundRect">
            <a:avLst>
              <a:gd name="adj" fmla="val 3918"/>
            </a:avLst>
          </a:prstGeom>
          <a:solidFill>
            <a:srgbClr val="2A3572"/>
          </a:solidFill>
          <a:ln/>
        </p:spPr>
      </p:sp>
      <p:sp>
        <p:nvSpPr>
          <p:cNvPr id="4" name="Shape 2"/>
          <p:cNvSpPr/>
          <p:nvPr/>
        </p:nvSpPr>
        <p:spPr>
          <a:xfrm>
            <a:off x="5033772" y="777240"/>
            <a:ext cx="466710" cy="466710"/>
          </a:xfrm>
          <a:prstGeom prst="roundRect">
            <a:avLst>
              <a:gd name="adj" fmla="val 3918"/>
            </a:avLst>
          </a:prstGeom>
          <a:solidFill>
            <a:srgbClr val="141B4D"/>
          </a:solidFill>
          <a:ln/>
        </p:spPr>
      </p:sp>
      <p:sp>
        <p:nvSpPr>
          <p:cNvPr id="5" name="Shape 3"/>
          <p:cNvSpPr/>
          <p:nvPr/>
        </p:nvSpPr>
        <p:spPr>
          <a:xfrm>
            <a:off x="5564124" y="777240"/>
            <a:ext cx="466710" cy="466710"/>
          </a:xfrm>
          <a:prstGeom prst="roundRect">
            <a:avLst>
              <a:gd name="adj" fmla="val 3918"/>
            </a:avLst>
          </a:prstGeom>
          <a:solidFill>
            <a:srgbClr val="2A3572"/>
          </a:solidFill>
          <a:ln/>
        </p:spPr>
      </p:sp>
      <p:sp>
        <p:nvSpPr>
          <p:cNvPr id="6" name="Shape 4"/>
          <p:cNvSpPr/>
          <p:nvPr/>
        </p:nvSpPr>
        <p:spPr>
          <a:xfrm>
            <a:off x="6094476" y="777240"/>
            <a:ext cx="466710" cy="466710"/>
          </a:xfrm>
          <a:prstGeom prst="roundRect">
            <a:avLst>
              <a:gd name="adj" fmla="val 3918"/>
            </a:avLst>
          </a:prstGeom>
          <a:solidFill>
            <a:srgbClr val="2A3572"/>
          </a:solidFill>
          <a:ln/>
        </p:spPr>
      </p:sp>
      <p:sp>
        <p:nvSpPr>
          <p:cNvPr id="7" name="Shape 5"/>
          <p:cNvSpPr/>
          <p:nvPr/>
        </p:nvSpPr>
        <p:spPr>
          <a:xfrm>
            <a:off x="6624828" y="777240"/>
            <a:ext cx="466710" cy="466710"/>
          </a:xfrm>
          <a:prstGeom prst="roundRect">
            <a:avLst>
              <a:gd name="adj" fmla="val 3918"/>
            </a:avLst>
          </a:prstGeom>
          <a:solidFill>
            <a:srgbClr val="141B4D"/>
          </a:solidFill>
          <a:ln/>
        </p:spPr>
      </p:sp>
      <p:sp>
        <p:nvSpPr>
          <p:cNvPr id="8" name="Shape 6"/>
          <p:cNvSpPr/>
          <p:nvPr/>
        </p:nvSpPr>
        <p:spPr>
          <a:xfrm>
            <a:off x="7155180" y="777240"/>
            <a:ext cx="466710" cy="466710"/>
          </a:xfrm>
          <a:prstGeom prst="roundRect">
            <a:avLst>
              <a:gd name="adj" fmla="val 3918"/>
            </a:avLst>
          </a:prstGeom>
          <a:solidFill>
            <a:srgbClr val="2A3572"/>
          </a:solidFill>
          <a:ln/>
        </p:spPr>
      </p:sp>
      <p:sp>
        <p:nvSpPr>
          <p:cNvPr id="9" name="Shape 7"/>
          <p:cNvSpPr/>
          <p:nvPr/>
        </p:nvSpPr>
        <p:spPr>
          <a:xfrm>
            <a:off x="7685532" y="777240"/>
            <a:ext cx="466710" cy="466710"/>
          </a:xfrm>
          <a:prstGeom prst="roundRect">
            <a:avLst>
              <a:gd name="adj" fmla="val 3918"/>
            </a:avLst>
          </a:prstGeom>
          <a:solidFill>
            <a:srgbClr val="2A3572"/>
          </a:solidFill>
          <a:ln/>
        </p:spPr>
      </p:sp>
      <p:sp>
        <p:nvSpPr>
          <p:cNvPr id="10" name="Shape 8"/>
          <p:cNvSpPr/>
          <p:nvPr/>
        </p:nvSpPr>
        <p:spPr>
          <a:xfrm>
            <a:off x="3973068" y="1307592"/>
            <a:ext cx="466710" cy="466710"/>
          </a:xfrm>
          <a:prstGeom prst="roundRect">
            <a:avLst>
              <a:gd name="adj" fmla="val 3918"/>
            </a:avLst>
          </a:prstGeom>
          <a:solidFill>
            <a:srgbClr val="2A3572"/>
          </a:solidFill>
          <a:ln/>
        </p:spPr>
      </p:sp>
      <p:sp>
        <p:nvSpPr>
          <p:cNvPr id="11" name="Shape 9"/>
          <p:cNvSpPr/>
          <p:nvPr/>
        </p:nvSpPr>
        <p:spPr>
          <a:xfrm>
            <a:off x="4503420" y="1307592"/>
            <a:ext cx="466710" cy="466710"/>
          </a:xfrm>
          <a:prstGeom prst="roundRect">
            <a:avLst>
              <a:gd name="adj" fmla="val 3918"/>
            </a:avLst>
          </a:prstGeom>
          <a:solidFill>
            <a:srgbClr val="2A3572"/>
          </a:solidFill>
          <a:ln/>
        </p:spPr>
      </p:sp>
      <p:sp>
        <p:nvSpPr>
          <p:cNvPr id="12" name="Shape 10"/>
          <p:cNvSpPr/>
          <p:nvPr/>
        </p:nvSpPr>
        <p:spPr>
          <a:xfrm>
            <a:off x="5033772" y="1307592"/>
            <a:ext cx="466710" cy="466710"/>
          </a:xfrm>
          <a:prstGeom prst="roundRect">
            <a:avLst>
              <a:gd name="adj" fmla="val 3918"/>
            </a:avLst>
          </a:prstGeom>
          <a:solidFill>
            <a:srgbClr val="141B4D"/>
          </a:solidFill>
          <a:ln/>
        </p:spPr>
      </p:sp>
      <p:sp>
        <p:nvSpPr>
          <p:cNvPr id="13" name="Shape 11"/>
          <p:cNvSpPr/>
          <p:nvPr/>
        </p:nvSpPr>
        <p:spPr>
          <a:xfrm>
            <a:off x="5564124" y="1307592"/>
            <a:ext cx="466710" cy="466710"/>
          </a:xfrm>
          <a:prstGeom prst="roundRect">
            <a:avLst>
              <a:gd name="adj" fmla="val 3918"/>
            </a:avLst>
          </a:prstGeom>
          <a:solidFill>
            <a:srgbClr val="2A3572"/>
          </a:solidFill>
          <a:ln/>
        </p:spPr>
      </p:sp>
      <p:sp>
        <p:nvSpPr>
          <p:cNvPr id="14" name="Shape 12"/>
          <p:cNvSpPr/>
          <p:nvPr/>
        </p:nvSpPr>
        <p:spPr>
          <a:xfrm>
            <a:off x="6094476" y="1307592"/>
            <a:ext cx="466710" cy="466710"/>
          </a:xfrm>
          <a:prstGeom prst="roundRect">
            <a:avLst>
              <a:gd name="adj" fmla="val 3918"/>
            </a:avLst>
          </a:prstGeom>
          <a:solidFill>
            <a:srgbClr val="2A3572"/>
          </a:solidFill>
          <a:ln/>
        </p:spPr>
      </p:sp>
      <p:sp>
        <p:nvSpPr>
          <p:cNvPr id="15" name="Shape 13"/>
          <p:cNvSpPr/>
          <p:nvPr/>
        </p:nvSpPr>
        <p:spPr>
          <a:xfrm>
            <a:off x="6624828" y="1307592"/>
            <a:ext cx="466710" cy="466710"/>
          </a:xfrm>
          <a:prstGeom prst="roundRect">
            <a:avLst>
              <a:gd name="adj" fmla="val 3918"/>
            </a:avLst>
          </a:prstGeom>
          <a:solidFill>
            <a:srgbClr val="141B4D"/>
          </a:solidFill>
          <a:ln/>
        </p:spPr>
      </p:sp>
      <p:sp>
        <p:nvSpPr>
          <p:cNvPr id="16" name="Shape 14"/>
          <p:cNvSpPr/>
          <p:nvPr/>
        </p:nvSpPr>
        <p:spPr>
          <a:xfrm>
            <a:off x="7155180" y="1307592"/>
            <a:ext cx="466710" cy="466710"/>
          </a:xfrm>
          <a:prstGeom prst="roundRect">
            <a:avLst>
              <a:gd name="adj" fmla="val 3918"/>
            </a:avLst>
          </a:prstGeom>
          <a:solidFill>
            <a:srgbClr val="2A3572"/>
          </a:solidFill>
          <a:ln/>
        </p:spPr>
      </p:sp>
      <p:sp>
        <p:nvSpPr>
          <p:cNvPr id="17" name="Shape 15"/>
          <p:cNvSpPr/>
          <p:nvPr/>
        </p:nvSpPr>
        <p:spPr>
          <a:xfrm>
            <a:off x="7685532" y="1307592"/>
            <a:ext cx="466710" cy="466710"/>
          </a:xfrm>
          <a:prstGeom prst="roundRect">
            <a:avLst>
              <a:gd name="adj" fmla="val 3918"/>
            </a:avLst>
          </a:prstGeom>
          <a:solidFill>
            <a:srgbClr val="2A3572"/>
          </a:solidFill>
          <a:ln/>
        </p:spPr>
      </p:sp>
      <p:sp>
        <p:nvSpPr>
          <p:cNvPr id="18" name="Shape 16"/>
          <p:cNvSpPr/>
          <p:nvPr/>
        </p:nvSpPr>
        <p:spPr>
          <a:xfrm>
            <a:off x="3973068" y="1837944"/>
            <a:ext cx="466710" cy="466710"/>
          </a:xfrm>
          <a:prstGeom prst="roundRect">
            <a:avLst>
              <a:gd name="adj" fmla="val 3918"/>
            </a:avLst>
          </a:prstGeom>
          <a:solidFill>
            <a:srgbClr val="2EC4B6"/>
          </a:solidFill>
          <a:ln/>
        </p:spPr>
      </p:sp>
      <p:sp>
        <p:nvSpPr>
          <p:cNvPr id="19" name="Shape 17"/>
          <p:cNvSpPr/>
          <p:nvPr/>
        </p:nvSpPr>
        <p:spPr>
          <a:xfrm>
            <a:off x="4503420" y="1837944"/>
            <a:ext cx="466710" cy="466710"/>
          </a:xfrm>
          <a:prstGeom prst="roundRect">
            <a:avLst>
              <a:gd name="adj" fmla="val 3918"/>
            </a:avLst>
          </a:prstGeom>
          <a:solidFill>
            <a:srgbClr val="2EC4B6"/>
          </a:solidFill>
          <a:ln/>
        </p:spPr>
      </p:sp>
      <p:sp>
        <p:nvSpPr>
          <p:cNvPr id="20" name="Shape 18"/>
          <p:cNvSpPr/>
          <p:nvPr/>
        </p:nvSpPr>
        <p:spPr>
          <a:xfrm>
            <a:off x="5033772" y="1837944"/>
            <a:ext cx="466710" cy="466710"/>
          </a:xfrm>
          <a:prstGeom prst="roundRect">
            <a:avLst>
              <a:gd name="adj" fmla="val 3918"/>
            </a:avLst>
          </a:prstGeom>
          <a:solidFill>
            <a:srgbClr val="2EC4B6"/>
          </a:solidFill>
          <a:ln/>
        </p:spPr>
      </p:sp>
      <p:sp>
        <p:nvSpPr>
          <p:cNvPr id="21" name="Shape 19"/>
          <p:cNvSpPr/>
          <p:nvPr/>
        </p:nvSpPr>
        <p:spPr>
          <a:xfrm>
            <a:off x="5564124" y="1837944"/>
            <a:ext cx="466710" cy="466710"/>
          </a:xfrm>
          <a:prstGeom prst="roundRect">
            <a:avLst>
              <a:gd name="adj" fmla="val 3918"/>
            </a:avLst>
          </a:prstGeom>
          <a:solidFill>
            <a:srgbClr val="2EC4B6"/>
          </a:solidFill>
          <a:ln/>
        </p:spPr>
      </p:sp>
      <p:sp>
        <p:nvSpPr>
          <p:cNvPr id="22" name="Shape 20"/>
          <p:cNvSpPr/>
          <p:nvPr/>
        </p:nvSpPr>
        <p:spPr>
          <a:xfrm>
            <a:off x="6094476" y="1837944"/>
            <a:ext cx="466710" cy="466710"/>
          </a:xfrm>
          <a:prstGeom prst="roundRect">
            <a:avLst>
              <a:gd name="adj" fmla="val 3918"/>
            </a:avLst>
          </a:prstGeom>
          <a:solidFill>
            <a:srgbClr val="2EC4B6"/>
          </a:solidFill>
          <a:ln/>
        </p:spPr>
      </p:sp>
      <p:sp>
        <p:nvSpPr>
          <p:cNvPr id="23" name="Shape 21"/>
          <p:cNvSpPr/>
          <p:nvPr/>
        </p:nvSpPr>
        <p:spPr>
          <a:xfrm>
            <a:off x="6624828" y="1837944"/>
            <a:ext cx="466710" cy="466710"/>
          </a:xfrm>
          <a:prstGeom prst="roundRect">
            <a:avLst>
              <a:gd name="adj" fmla="val 3918"/>
            </a:avLst>
          </a:prstGeom>
          <a:solidFill>
            <a:srgbClr val="2EC4B6"/>
          </a:solidFill>
          <a:ln/>
        </p:spPr>
      </p:sp>
      <p:sp>
        <p:nvSpPr>
          <p:cNvPr id="24" name="Shape 22"/>
          <p:cNvSpPr/>
          <p:nvPr/>
        </p:nvSpPr>
        <p:spPr>
          <a:xfrm>
            <a:off x="7155180" y="1837944"/>
            <a:ext cx="466710" cy="466710"/>
          </a:xfrm>
          <a:prstGeom prst="roundRect">
            <a:avLst>
              <a:gd name="adj" fmla="val 3918"/>
            </a:avLst>
          </a:prstGeom>
          <a:solidFill>
            <a:srgbClr val="2EC4B6"/>
          </a:solidFill>
          <a:ln/>
        </p:spPr>
      </p:sp>
      <p:sp>
        <p:nvSpPr>
          <p:cNvPr id="25" name="Shape 23"/>
          <p:cNvSpPr/>
          <p:nvPr/>
        </p:nvSpPr>
        <p:spPr>
          <a:xfrm>
            <a:off x="7685532" y="1837944"/>
            <a:ext cx="466710" cy="466710"/>
          </a:xfrm>
          <a:prstGeom prst="roundRect">
            <a:avLst>
              <a:gd name="adj" fmla="val 3918"/>
            </a:avLst>
          </a:prstGeom>
          <a:solidFill>
            <a:srgbClr val="2EC4B6"/>
          </a:solidFill>
          <a:ln/>
        </p:spPr>
      </p:sp>
      <p:sp>
        <p:nvSpPr>
          <p:cNvPr id="26" name="Shape 24"/>
          <p:cNvSpPr/>
          <p:nvPr/>
        </p:nvSpPr>
        <p:spPr>
          <a:xfrm>
            <a:off x="3973068" y="2368296"/>
            <a:ext cx="466710" cy="466710"/>
          </a:xfrm>
          <a:prstGeom prst="roundRect">
            <a:avLst>
              <a:gd name="adj" fmla="val 3918"/>
            </a:avLst>
          </a:prstGeom>
          <a:solidFill>
            <a:srgbClr val="2A3572"/>
          </a:solidFill>
          <a:ln/>
        </p:spPr>
      </p:sp>
      <p:sp>
        <p:nvSpPr>
          <p:cNvPr id="27" name="Shape 25"/>
          <p:cNvSpPr/>
          <p:nvPr/>
        </p:nvSpPr>
        <p:spPr>
          <a:xfrm>
            <a:off x="4503420" y="2368296"/>
            <a:ext cx="466710" cy="466710"/>
          </a:xfrm>
          <a:prstGeom prst="roundRect">
            <a:avLst>
              <a:gd name="adj" fmla="val 3918"/>
            </a:avLst>
          </a:prstGeom>
          <a:solidFill>
            <a:srgbClr val="2A3572"/>
          </a:solidFill>
          <a:ln/>
        </p:spPr>
      </p:sp>
      <p:sp>
        <p:nvSpPr>
          <p:cNvPr id="28" name="Shape 26"/>
          <p:cNvSpPr/>
          <p:nvPr/>
        </p:nvSpPr>
        <p:spPr>
          <a:xfrm>
            <a:off x="5033772" y="2368296"/>
            <a:ext cx="466710" cy="466710"/>
          </a:xfrm>
          <a:prstGeom prst="roundRect">
            <a:avLst>
              <a:gd name="adj" fmla="val 3918"/>
            </a:avLst>
          </a:prstGeom>
          <a:solidFill>
            <a:srgbClr val="141B4D"/>
          </a:solidFill>
          <a:ln/>
        </p:spPr>
      </p:sp>
      <p:sp>
        <p:nvSpPr>
          <p:cNvPr id="29" name="Shape 27"/>
          <p:cNvSpPr/>
          <p:nvPr/>
        </p:nvSpPr>
        <p:spPr>
          <a:xfrm>
            <a:off x="5564124" y="2368296"/>
            <a:ext cx="466710" cy="466710"/>
          </a:xfrm>
          <a:prstGeom prst="roundRect">
            <a:avLst>
              <a:gd name="adj" fmla="val 3918"/>
            </a:avLst>
          </a:prstGeom>
          <a:solidFill>
            <a:srgbClr val="2A3572"/>
          </a:solidFill>
          <a:ln/>
        </p:spPr>
      </p:sp>
      <p:sp>
        <p:nvSpPr>
          <p:cNvPr id="30" name="Shape 28"/>
          <p:cNvSpPr/>
          <p:nvPr/>
        </p:nvSpPr>
        <p:spPr>
          <a:xfrm>
            <a:off x="6094476" y="2368296"/>
            <a:ext cx="466710" cy="466710"/>
          </a:xfrm>
          <a:prstGeom prst="roundRect">
            <a:avLst>
              <a:gd name="adj" fmla="val 3918"/>
            </a:avLst>
          </a:prstGeom>
          <a:solidFill>
            <a:srgbClr val="2A3572"/>
          </a:solidFill>
          <a:ln/>
        </p:spPr>
      </p:sp>
      <p:sp>
        <p:nvSpPr>
          <p:cNvPr id="31" name="Shape 29"/>
          <p:cNvSpPr/>
          <p:nvPr/>
        </p:nvSpPr>
        <p:spPr>
          <a:xfrm>
            <a:off x="6624828" y="2368296"/>
            <a:ext cx="466710" cy="466710"/>
          </a:xfrm>
          <a:prstGeom prst="roundRect">
            <a:avLst>
              <a:gd name="adj" fmla="val 3918"/>
            </a:avLst>
          </a:prstGeom>
          <a:solidFill>
            <a:srgbClr val="141B4D"/>
          </a:solidFill>
          <a:ln/>
        </p:spPr>
      </p:sp>
      <p:sp>
        <p:nvSpPr>
          <p:cNvPr id="32" name="Shape 30"/>
          <p:cNvSpPr/>
          <p:nvPr/>
        </p:nvSpPr>
        <p:spPr>
          <a:xfrm>
            <a:off x="7155180" y="2368296"/>
            <a:ext cx="466710" cy="466710"/>
          </a:xfrm>
          <a:prstGeom prst="roundRect">
            <a:avLst>
              <a:gd name="adj" fmla="val 3918"/>
            </a:avLst>
          </a:prstGeom>
          <a:solidFill>
            <a:srgbClr val="2A3572"/>
          </a:solidFill>
          <a:ln/>
        </p:spPr>
      </p:sp>
      <p:sp>
        <p:nvSpPr>
          <p:cNvPr id="33" name="Shape 31"/>
          <p:cNvSpPr/>
          <p:nvPr/>
        </p:nvSpPr>
        <p:spPr>
          <a:xfrm>
            <a:off x="7685532" y="2368296"/>
            <a:ext cx="466710" cy="466710"/>
          </a:xfrm>
          <a:prstGeom prst="roundRect">
            <a:avLst>
              <a:gd name="adj" fmla="val 3918"/>
            </a:avLst>
          </a:prstGeom>
          <a:solidFill>
            <a:srgbClr val="2A3572"/>
          </a:solidFill>
          <a:ln/>
        </p:spPr>
      </p:sp>
      <p:sp>
        <p:nvSpPr>
          <p:cNvPr id="34" name="Shape 32"/>
          <p:cNvSpPr/>
          <p:nvPr/>
        </p:nvSpPr>
        <p:spPr>
          <a:xfrm>
            <a:off x="3973068" y="2898648"/>
            <a:ext cx="466710" cy="466710"/>
          </a:xfrm>
          <a:prstGeom prst="roundRect">
            <a:avLst>
              <a:gd name="adj" fmla="val 3918"/>
            </a:avLst>
          </a:prstGeom>
          <a:solidFill>
            <a:srgbClr val="2A3572"/>
          </a:solidFill>
          <a:ln/>
        </p:spPr>
      </p:sp>
      <p:sp>
        <p:nvSpPr>
          <p:cNvPr id="35" name="Shape 33"/>
          <p:cNvSpPr/>
          <p:nvPr/>
        </p:nvSpPr>
        <p:spPr>
          <a:xfrm>
            <a:off x="4503420" y="2898648"/>
            <a:ext cx="466710" cy="466710"/>
          </a:xfrm>
          <a:prstGeom prst="roundRect">
            <a:avLst>
              <a:gd name="adj" fmla="val 3918"/>
            </a:avLst>
          </a:prstGeom>
          <a:solidFill>
            <a:srgbClr val="2A3572"/>
          </a:solidFill>
          <a:ln/>
        </p:spPr>
      </p:sp>
      <p:sp>
        <p:nvSpPr>
          <p:cNvPr id="36" name="Shape 34"/>
          <p:cNvSpPr/>
          <p:nvPr/>
        </p:nvSpPr>
        <p:spPr>
          <a:xfrm>
            <a:off x="5033772" y="2898648"/>
            <a:ext cx="466710" cy="466710"/>
          </a:xfrm>
          <a:prstGeom prst="roundRect">
            <a:avLst>
              <a:gd name="adj" fmla="val 3918"/>
            </a:avLst>
          </a:prstGeom>
          <a:solidFill>
            <a:srgbClr val="141B4D"/>
          </a:solidFill>
          <a:ln/>
        </p:spPr>
      </p:sp>
      <p:sp>
        <p:nvSpPr>
          <p:cNvPr id="37" name="Shape 35"/>
          <p:cNvSpPr/>
          <p:nvPr/>
        </p:nvSpPr>
        <p:spPr>
          <a:xfrm>
            <a:off x="5564124" y="2898648"/>
            <a:ext cx="466710" cy="466710"/>
          </a:xfrm>
          <a:prstGeom prst="roundRect">
            <a:avLst>
              <a:gd name="adj" fmla="val 3918"/>
            </a:avLst>
          </a:prstGeom>
          <a:solidFill>
            <a:srgbClr val="2A3572"/>
          </a:solidFill>
          <a:ln/>
        </p:spPr>
      </p:sp>
      <p:sp>
        <p:nvSpPr>
          <p:cNvPr id="38" name="Shape 36"/>
          <p:cNvSpPr/>
          <p:nvPr/>
        </p:nvSpPr>
        <p:spPr>
          <a:xfrm>
            <a:off x="6094476" y="2898648"/>
            <a:ext cx="466710" cy="466710"/>
          </a:xfrm>
          <a:prstGeom prst="roundRect">
            <a:avLst>
              <a:gd name="adj" fmla="val 3918"/>
            </a:avLst>
          </a:prstGeom>
          <a:solidFill>
            <a:srgbClr val="2A3572"/>
          </a:solidFill>
          <a:ln/>
        </p:spPr>
      </p:sp>
      <p:sp>
        <p:nvSpPr>
          <p:cNvPr id="39" name="Shape 37"/>
          <p:cNvSpPr/>
          <p:nvPr/>
        </p:nvSpPr>
        <p:spPr>
          <a:xfrm>
            <a:off x="6624828" y="2898648"/>
            <a:ext cx="466710" cy="466710"/>
          </a:xfrm>
          <a:prstGeom prst="roundRect">
            <a:avLst>
              <a:gd name="adj" fmla="val 3918"/>
            </a:avLst>
          </a:prstGeom>
          <a:solidFill>
            <a:srgbClr val="141B4D"/>
          </a:solidFill>
          <a:ln/>
        </p:spPr>
      </p:sp>
      <p:sp>
        <p:nvSpPr>
          <p:cNvPr id="40" name="Shape 38"/>
          <p:cNvSpPr/>
          <p:nvPr/>
        </p:nvSpPr>
        <p:spPr>
          <a:xfrm>
            <a:off x="7155180" y="2898648"/>
            <a:ext cx="466710" cy="466710"/>
          </a:xfrm>
          <a:prstGeom prst="roundRect">
            <a:avLst>
              <a:gd name="adj" fmla="val 3918"/>
            </a:avLst>
          </a:prstGeom>
          <a:solidFill>
            <a:srgbClr val="2A3572"/>
          </a:solidFill>
          <a:ln/>
        </p:spPr>
      </p:sp>
      <p:sp>
        <p:nvSpPr>
          <p:cNvPr id="41" name="Shape 39"/>
          <p:cNvSpPr/>
          <p:nvPr/>
        </p:nvSpPr>
        <p:spPr>
          <a:xfrm>
            <a:off x="7685532" y="2898648"/>
            <a:ext cx="466710" cy="466710"/>
          </a:xfrm>
          <a:prstGeom prst="roundRect">
            <a:avLst>
              <a:gd name="adj" fmla="val 3918"/>
            </a:avLst>
          </a:prstGeom>
          <a:solidFill>
            <a:srgbClr val="2A3572"/>
          </a:solidFill>
          <a:ln/>
        </p:spPr>
      </p:sp>
      <p:sp>
        <p:nvSpPr>
          <p:cNvPr id="42" name="Text 40"/>
          <p:cNvSpPr/>
          <p:nvPr/>
        </p:nvSpPr>
        <p:spPr>
          <a:xfrm>
            <a:off x="0" y="3520440"/>
            <a:ext cx="12188952" cy="82296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3" name="Text 41"/>
          <p:cNvSpPr/>
          <p:nvPr/>
        </p:nvSpPr>
        <p:spPr>
          <a:xfrm>
            <a:off x="0" y="4343400"/>
            <a:ext cx="12188952" cy="457200"/>
          </a:xfrm>
          <a:prstGeom prst="rect">
            <a:avLst/>
          </a:prstGeom>
          <a:noFill/>
          <a:ln/>
        </p:spPr>
        <p:txBody>
          <a:bodyPr wrap="square"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pic>
        <p:nvPicPr>
          <p:cNvPr id="44" name="Image 0" descr="/home/claude/viva_ppt/lpu_logo.png"/>
          <p:cNvPicPr>
            <a:picLocks noChangeAspect="1"/>
          </p:cNvPicPr>
          <p:nvPr/>
        </p:nvPicPr>
        <p:blipFill>
          <a:blip r:embed="rId3"/>
          <a:stretch>
            <a:fillRect/>
          </a:stretch>
        </p:blipFill>
        <p:spPr>
          <a:xfrm>
            <a:off x="5660136" y="6263640"/>
            <a:ext cx="868680" cy="360274"/>
          </a:xfrm>
          <a:prstGeom prst="rect">
            <a:avLst/>
          </a:prstGeom>
        </p:spPr>
      </p:pic>
      <p:sp>
        <p:nvSpPr>
          <p:cNvPr id="45" name="Text 42"/>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B6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2253</Words>
  <Application>Microsoft Macintosh PowerPoint</Application>
  <PresentationFormat>Widescreen</PresentationFormat>
  <Paragraphs>229</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PathVis — Viva Presentation</dc:title>
  <dc:subject>PptxGenJS Presentation</dc:subject>
  <dc:creator>Pahulmeet Singh</dc:creator>
  <cp:lastModifiedBy>PAHULMEET SINGH</cp:lastModifiedBy>
  <cp:revision>2</cp:revision>
  <dcterms:created xsi:type="dcterms:W3CDTF">2026-08-17T11:00:31Z</dcterms:created>
  <dcterms:modified xsi:type="dcterms:W3CDTF">2026-09-06T02:48:48Z</dcterms:modified>
</cp:coreProperties>
</file>